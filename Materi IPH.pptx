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5.xml" ContentType="application/vnd.openxmlformats-officedocument.presentationml.notes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Slides/notesSlide6.xml" ContentType="application/vnd.openxmlformats-officedocument.presentationml.notesSlide+xml"/>
  <Override PartName="/ppt/charts/chart8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224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17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0F172A"/>
                </a:solidFill>
                <a:latin typeface="Arial"/>
              </a:rPr>
              <a:t>Rata-rata IPH Bulanan Kab. Kepulauan Selayar 2026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IPH (%)</c:v>
                </c:pt>
              </c:strCache>
            </c:strRef>
          </c:tx>
          <c:spPr>
            <a:ln w="38100" cap="flat">
              <a:solidFill>
                <a:srgbClr val="0284C7"/>
              </a:solidFill>
              <a:prstDash val="solid"/>
              <a:round/>
            </a:ln>
            <a:effectLst/>
          </c:spPr>
          <c:marker>
            <c:symbol val="circle"/>
            <c:size val="8"/>
            <c:spPr>
              <a:solidFill>
                <a:srgbClr val="0284C7"/>
              </a:solidFill>
              <a:ln w="9525" cap="flat">
                <a:solidFill>
                  <a:srgbClr val="0284C7"/>
                </a:solidFill>
                <a:prstDash val="solid"/>
                <a:round/>
              </a:ln>
              <a:effectLst/>
            </c:spPr>
          </c:marker>
          <c:dLbls>
            <c:numFmt formatCode="\+0.00%;\-0.0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Mei</c:v>
                </c:pt>
                <c:pt idx="5">
                  <c:v>Jun</c:v>
                </c:pt>
                <c:pt idx="6">
                  <c:v>Jul</c:v>
                </c:pt>
                <c:pt idx="7">
                  <c:v>Agu</c:v>
                </c:pt>
                <c:pt idx="8">
                  <c:v>Sep</c:v>
                </c:pt>
                <c:pt idx="9">
                  <c:v>Okt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-0.22</c:v>
                </c:pt>
                <c:pt idx="1">
                  <c:v>-1.48</c:v>
                </c:pt>
                <c:pt idx="2">
                  <c:v>0.82</c:v>
                </c:pt>
                <c:pt idx="3">
                  <c:v>1.62</c:v>
                </c:pt>
                <c:pt idx="4">
                  <c:v>-0.5</c:v>
                </c:pt>
                <c:pt idx="5">
                  <c:v>-0.57999999999999996</c:v>
                </c:pt>
                <c:pt idx="6">
                  <c:v>-1.75</c:v>
                </c:pt>
                <c:pt idx="7">
                  <c:v>-0.51</c:v>
                </c:pt>
                <c:pt idx="8">
                  <c:v>1.05</c:v>
                </c:pt>
                <c:pt idx="9">
                  <c:v>0.84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D34-F642-8C89-8D538989CFD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.5"/>
          <c:min val="-2.5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F172A"/>
                </a:solidFill>
                <a:latin typeface="Arial"/>
              </a:defRPr>
            </a:pPr>
            <a:r>
              <a:rPr sz="1100" b="0" i="0" u="none" strike="noStrike">
                <a:solidFill>
                  <a:srgbClr val="0F172A"/>
                </a:solidFill>
                <a:latin typeface="Arial"/>
              </a:rPr>
              <a:t>Fluktuasi Mingguan Fase Ramadan &amp; Idul Fitri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IPH Mingguan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Mar W1</c:v>
                </c:pt>
                <c:pt idx="1">
                  <c:v>Mar W2</c:v>
                </c:pt>
                <c:pt idx="2">
                  <c:v>Apr W1</c:v>
                </c:pt>
                <c:pt idx="3">
                  <c:v>Apr W2</c:v>
                </c:pt>
                <c:pt idx="4">
                  <c:v>Apr W4</c:v>
                </c:pt>
                <c:pt idx="5">
                  <c:v>Apr W5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0.37</c:v>
                </c:pt>
                <c:pt idx="1">
                  <c:v>1.28</c:v>
                </c:pt>
                <c:pt idx="2">
                  <c:v>3.26</c:v>
                </c:pt>
                <c:pt idx="3">
                  <c:v>-3.29</c:v>
                </c:pt>
                <c:pt idx="4">
                  <c:v>3.29</c:v>
                </c:pt>
                <c:pt idx="5">
                  <c:v>3.23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41C-4249-8776-8A462D3D0E9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F172A"/>
                </a:solidFill>
                <a:latin typeface="Arial"/>
              </a:defRPr>
            </a:pPr>
            <a:r>
              <a:rPr sz="1100" b="0" i="0" u="none" strike="noStrike">
                <a:solidFill>
                  <a:srgbClr val="0F172A"/>
                </a:solidFill>
                <a:latin typeface="Arial"/>
              </a:rPr>
              <a:t>Andil Maksimal Komoditas Pemicu HBKN (% Max)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Andil Inflasi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991B1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Daging Ayam</c:v>
                </c:pt>
                <c:pt idx="1">
                  <c:v>Telur Ayam</c:v>
                </c:pt>
                <c:pt idx="2">
                  <c:v>Daging Sapi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0.92</c:v>
                </c:pt>
                <c:pt idx="1">
                  <c:v>1.35</c:v>
                </c:pt>
                <c:pt idx="2">
                  <c:v>2.17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7DD-6541-9ACF-1E1D8C90328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CBD5E1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F172A"/>
                </a:solidFill>
                <a:latin typeface="Arial"/>
              </a:defRPr>
            </a:pPr>
            <a:r>
              <a:rPr sz="1100" b="0" i="0" u="none" strike="noStrike">
                <a:solidFill>
                  <a:srgbClr val="0F172A"/>
                </a:solidFill>
                <a:latin typeface="Arial"/>
              </a:rPr>
              <a:t>Trajektori Deflasi Mingguan Juli 2026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IPH Mingguan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4532D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Jul W1</c:v>
                </c:pt>
                <c:pt idx="1">
                  <c:v>Jul W2</c:v>
                </c:pt>
                <c:pt idx="2">
                  <c:v>Jul W3</c:v>
                </c:pt>
                <c:pt idx="3">
                  <c:v>Jul W4</c:v>
                </c:pt>
                <c:pt idx="4">
                  <c:v>Jul W5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-1.31</c:v>
                </c:pt>
                <c:pt idx="1">
                  <c:v>-1.62</c:v>
                </c:pt>
                <c:pt idx="2">
                  <c:v>-1.82</c:v>
                </c:pt>
                <c:pt idx="3">
                  <c:v>-1.97</c:v>
                </c:pt>
                <c:pt idx="4">
                  <c:v>-2.02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08-2E4C-A76C-06FE05E81BB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F172A"/>
                </a:solidFill>
                <a:latin typeface="Arial"/>
              </a:defRPr>
            </a:pPr>
            <a:r>
              <a:rPr sz="1100" b="0" i="0" u="none" strike="noStrike">
                <a:solidFill>
                  <a:srgbClr val="0F172A"/>
                </a:solidFill>
                <a:latin typeface="Arial"/>
              </a:rPr>
              <a:t>Komoditas Pendorong Deflasi Terbesar (%)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Andil Deflasi</c:v>
                </c:pt>
              </c:strCache>
            </c:strRef>
          </c:tx>
          <c:spPr>
            <a:solidFill>
              <a:srgbClr val="15803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4532D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Bawang Merah</c:v>
                </c:pt>
                <c:pt idx="1">
                  <c:v>Daging Ayam</c:v>
                </c:pt>
                <c:pt idx="2">
                  <c:v>Cabai Rawit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-0.42</c:v>
                </c:pt>
                <c:pt idx="1">
                  <c:v>-0.61</c:v>
                </c:pt>
                <c:pt idx="2">
                  <c:v>-0.64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395-B141-868D-C8866B39C9D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CBD5E1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F172A"/>
                </a:solidFill>
                <a:latin typeface="Arial"/>
              </a:defRPr>
            </a:pPr>
            <a:r>
              <a:rPr sz="1100" b="0" i="0" u="none" strike="noStrike">
                <a:solidFill>
                  <a:srgbClr val="0F172A"/>
                </a:solidFill>
                <a:latin typeface="Arial"/>
              </a:rPr>
              <a:t>Rebound IPH Mingguan September - Oktober 2026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IPH Mingguan</c:v>
                </c:pt>
              </c:strCache>
            </c:strRef>
          </c:tx>
          <c:spPr>
            <a:ln w="38100" cap="flat">
              <a:solidFill>
                <a:srgbClr val="D97706"/>
              </a:solidFill>
              <a:prstDash val="solid"/>
              <a:round/>
            </a:ln>
            <a:effectLst/>
          </c:spPr>
          <c:marker>
            <c:symbol val="circle"/>
            <c:size val="8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B4530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Sep W1</c:v>
                </c:pt>
                <c:pt idx="1">
                  <c:v>Sep W2</c:v>
                </c:pt>
                <c:pt idx="2">
                  <c:v>Sep W3</c:v>
                </c:pt>
                <c:pt idx="3">
                  <c:v>Sep W4</c:v>
                </c:pt>
                <c:pt idx="4">
                  <c:v>Okt W1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0.39</c:v>
                </c:pt>
                <c:pt idx="1">
                  <c:v>0.95</c:v>
                </c:pt>
                <c:pt idx="2">
                  <c:v>1.29</c:v>
                </c:pt>
                <c:pt idx="3">
                  <c:v>1.57</c:v>
                </c:pt>
                <c:pt idx="4">
                  <c:v>0.84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F71-B848-AFA0-C73C4427EC4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F172A"/>
                </a:solidFill>
                <a:latin typeface="Arial"/>
              </a:defRPr>
            </a:pPr>
            <a:r>
              <a:rPr sz="1100" b="0" i="0" u="none" strike="noStrike">
                <a:solidFill>
                  <a:srgbClr val="0F172A"/>
                </a:solidFill>
                <a:latin typeface="Arial"/>
              </a:rPr>
              <a:t>Komoditas Pendorong Kenaikan Akhir Q3 (%)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Andil Inflasi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9A3412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Beras</c:v>
                </c:pt>
                <c:pt idx="1">
                  <c:v>Cabai Merah</c:v>
                </c:pt>
                <c:pt idx="2">
                  <c:v>Cabai Rawit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0.53</c:v>
                </c:pt>
                <c:pt idx="1">
                  <c:v>0.62</c:v>
                </c:pt>
                <c:pt idx="2">
                  <c:v>1.1299999999999999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5E1-744A-BE4C-1F24E0FC0BC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CBD5E1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17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0F172A"/>
                </a:solidFill>
                <a:latin typeface="Arial"/>
              </a:rPr>
              <a:t>Frekuensi Komoditas Pemicu Gejolak Utama (2026)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Frekuensi Kejadian</c:v>
                </c:pt>
              </c:strCache>
            </c:strRef>
          </c:tx>
          <c:spPr>
            <a:solidFill>
              <a:srgbClr val="0284C7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369A1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Daging Ayam</c:v>
                </c:pt>
                <c:pt idx="1">
                  <c:v>Cabai Merah</c:v>
                </c:pt>
                <c:pt idx="2">
                  <c:v>Beras</c:v>
                </c:pt>
                <c:pt idx="3">
                  <c:v>Telur Ayam</c:v>
                </c:pt>
                <c:pt idx="4">
                  <c:v>Cabai Rawit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4</c:v>
                </c:pt>
                <c:pt idx="2">
                  <c:v>4</c:v>
                </c:pt>
                <c:pt idx="3">
                  <c:v>5</c:v>
                </c:pt>
                <c:pt idx="4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B53-E440-821C-CE62562B758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8"/>
        </c:scaling>
        <c:delete val="0"/>
        <c:axPos val="b"/>
        <c:majorGridlines>
          <c:spPr>
            <a:ln w="12700" cap="flat">
              <a:solidFill>
                <a:srgbClr val="CBD5E1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219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5.xml"/><Relationship Id="rId4" Type="http://schemas.openxmlformats.org/officeDocument/2006/relationships/chart" Target="../charts/char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7.xml"/><Relationship Id="rId4" Type="http://schemas.openxmlformats.org/officeDocument/2006/relationships/chart" Target="../charts/char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0728655" cy="5394960"/>
          </a:xfrm>
          <a:prstGeom prst="roundRect">
            <a:avLst>
              <a:gd name="adj" fmla="val 2542"/>
            </a:avLst>
          </a:prstGeom>
          <a:solidFill>
            <a:srgbClr val="1E293B"/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143000"/>
            <a:ext cx="868680" cy="868680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1325880"/>
            <a:ext cx="1737360" cy="58521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1188720" y="2240280"/>
            <a:ext cx="4754880" cy="384048"/>
          </a:xfrm>
          <a:prstGeom prst="roundRect">
            <a:avLst>
              <a:gd name="adj" fmla="val 19048"/>
            </a:avLst>
          </a:prstGeom>
          <a:solidFill>
            <a:srgbClr val="0284C7"/>
          </a:solidFill>
          <a:ln w="1524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/>
          <p:nvPr/>
        </p:nvSpPr>
        <p:spPr>
          <a:xfrm>
            <a:off x="1188720" y="224028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PENGENDALIAN INFLASI DAERAH (TPID) &amp; BPS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1188720" y="2724912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Perkembangan Indeks Perkembangan Harga (IPH) 2026</a:t>
            </a:r>
            <a:endParaRPr lang="en-US" sz="2900" dirty="0"/>
          </a:p>
          <a:p>
            <a:pPr marL="0" indent="0">
              <a:lnSpc>
                <a:spcPts val="36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Kabupaten Kepulauan Selayar</a:t>
            </a:r>
            <a:endParaRPr lang="en-US" sz="2900" dirty="0"/>
          </a:p>
        </p:txBody>
      </p:sp>
      <p:sp>
        <p:nvSpPr>
          <p:cNvPr id="8" name="Text 4"/>
          <p:cNvSpPr/>
          <p:nvPr/>
        </p:nvSpPr>
        <p:spPr>
          <a:xfrm>
            <a:off x="1188720" y="4069080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Evaluasi Dinamika Fluktuasi Harga Mingguan, Komoditas Pemicu, dan Rekomendasi Kebijakan Pengendalian Inflasi (Januari – Oktober 2026)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1188720" y="4709160"/>
            <a:ext cx="9784080" cy="1078992"/>
          </a:xfrm>
          <a:prstGeom prst="roundRect">
            <a:avLst>
              <a:gd name="adj" fmla="val 8475"/>
            </a:avLst>
          </a:prstGeom>
          <a:solidFill>
            <a:srgbClr val="0F172A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1371600" y="4800600"/>
            <a:ext cx="9418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Forum: </a:t>
            </a: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Level Meeting (HLM) dan Capacity Building Penyusunan Neraca Pangan Daerah Tahun 2026
</a:t>
            </a: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Cakupan: </a:t>
            </a: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Rilis Mingguan (Januari – Oktober 2026)  |  </a:t>
            </a: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</a:t>
            </a: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Pemantauan SP2KP BPS RI &amp; Portal SIPH Sulawesi Selatan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3291840" cy="329184"/>
          </a:xfrm>
          <a:prstGeom prst="roundRect">
            <a:avLst>
              <a:gd name="adj" fmla="val 22222"/>
            </a:avLst>
          </a:prstGeom>
          <a:solidFill>
            <a:srgbClr val="E0F2FE"/>
          </a:solidFill>
          <a:ln w="1524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TINJAUAN TAHUNAN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Dinamika IPH Kabupaten Kepulauan Selayar Sepanjang 2026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 Harga: Fluktuasi Ekstrem Saat HBKN April Diikuti Deflasi Panjang dan Rebound di Q3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0" y="384048"/>
            <a:ext cx="1463040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Badan Pusat Statistik &amp; SIPH Sulawesi Selatan 2026 | Evaluasi TPID Kab. Kepulauan Selayar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548640" y="1691640"/>
          <a:ext cx="6583680" cy="4617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Shape 6"/>
          <p:cNvSpPr/>
          <p:nvPr/>
        </p:nvSpPr>
        <p:spPr>
          <a:xfrm>
            <a:off x="7315200" y="1691640"/>
            <a:ext cx="432785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7498080" y="179222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PUNCAK FLUKTUASI HBKN (APRIL 2026)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7498080" y="2057400"/>
            <a:ext cx="3931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Rentang Ayunan: </a:t>
            </a: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-3.29% s.d. +3.29%</a:t>
            </a:r>
            <a:endParaRPr lang="en-US" sz="115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Analisis: Lonjakan belanja Idul Fitri pada Daging Sapi (+2.17%) dan Telur Ayam (+1.35%) memicu puncak inflasi sebelum terkoreksi tajam.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315200" y="3291840"/>
            <a:ext cx="432785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7498080" y="339242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DEFLASI PANJANG (MEI – AGUSTUS 2026)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7498080" y="3657600"/>
            <a:ext cx="3931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Titik Deflasi Terendah: </a:t>
            </a: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-2.02% di Juli (M5)</a:t>
            </a:r>
            <a:endParaRPr lang="en-US" sz="115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Analisis: Melimpahnya panen cabai rawit dan pasokan beras daratan Sulsel selama kondisi perairan laut tenang menjaga daya beli warga.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315200" y="4892040"/>
            <a:ext cx="432785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7498080" y="499262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REBOUND TEKANAN HARGA (SEP – OKT 2026)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498080" y="5257800"/>
            <a:ext cx="3931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Tren Rebound: </a:t>
            </a: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+0.39% ke +1.57% (Sep)</a:t>
            </a:r>
            <a:endParaRPr lang="en-US" sz="115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Analisis: Masa peralihan musim menekan hasil panen cabai rawit lokal, diperkuat kenaikan harga beras awal Oktober (+0.84%).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3291840" cy="329184"/>
          </a:xfrm>
          <a:prstGeom prst="roundRect">
            <a:avLst>
              <a:gd name="adj" fmla="val 22222"/>
            </a:avLst>
          </a:prstGeom>
          <a:solidFill>
            <a:srgbClr val="E0F2FE"/>
          </a:solidFill>
          <a:ln w="1524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PERIODE I • HBKN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Maret – April 2026: Dinamika Harga Fase Ramadan &amp; Idul Fitri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Eskalasi Tajam Protein Hewani &amp; Telur Menjelang Hari Raya Sebelum Terjadi Koreksi Pasca HBKN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0" y="384048"/>
            <a:ext cx="1463040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Badan Pusat Statistik &amp; SIPH Sulawesi Selatan 2026 | Evaluasi TPID Kab. Kepulauan Selayar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548640" y="1691640"/>
          <a:ext cx="6217920" cy="2194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0" name="Chart 1"/>
          <p:cNvGraphicFramePr/>
          <p:nvPr/>
        </p:nvGraphicFramePr>
        <p:xfrm>
          <a:off x="548640" y="4023360"/>
          <a:ext cx="621792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Shape 6"/>
          <p:cNvSpPr/>
          <p:nvPr/>
        </p:nvSpPr>
        <p:spPr>
          <a:xfrm>
            <a:off x="6949440" y="1691640"/>
            <a:ext cx="469361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7178040" y="179222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LONJAKAN PERMINTAAN DAGING &amp; TELUR</a:t>
            </a:r>
            <a:endParaRPr lang="en-US" sz="1150" dirty="0"/>
          </a:p>
        </p:txBody>
      </p:sp>
      <p:sp>
        <p:nvSpPr>
          <p:cNvPr id="13" name="Text 8"/>
          <p:cNvSpPr/>
          <p:nvPr/>
        </p:nvSpPr>
        <p:spPr>
          <a:xfrm>
            <a:off x="7178040" y="20665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Menjelang hari raya Idul Fitri 2026, permintaan protein hewani melonjak tajam. Daging Sapi mencatat andil inflasi hingga +2.17%, sementara Telur Ayam Ras menyumbang andil +1.35% akibat kebutuhan jamuan dan kue hari raya.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6949440" y="3291840"/>
            <a:ext cx="469361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7178040" y="339242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KOREKSI HARGA PASCA-HARI RAYA (APRIL W2)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7178040" y="36667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Setelah puncak lebaran selesai, konsumsi masyarakat melandai normal sementara pasokan sayuran daratan kembali lancar, memicu deflasi sesaat -3.29% di minggu ke-2 sebelum stabil kembali di akhir bulan.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949440" y="4892040"/>
            <a:ext cx="469361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3"/>
          <p:cNvSpPr/>
          <p:nvPr/>
        </p:nvSpPr>
        <p:spPr>
          <a:xfrm>
            <a:off x="7178040" y="499262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KOMODITAS KUNCI PERIODE HBKN 2026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7178040" y="52669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Daging Sapi: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Andil maksimal +2.17% (April W1), pasokan ternak lokal terbatas.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Telur Ayam Ras: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Andil +1.35%, ketergantungan pasokan dari sentra Sidrap/Maros.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Daging Ayam Ras: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Andil +0.92%, konsumsi jamuan keluarga meningkat tajam.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3291840" cy="329184"/>
          </a:xfrm>
          <a:prstGeom prst="roundRect">
            <a:avLst>
              <a:gd name="adj" fmla="val 22222"/>
            </a:avLst>
          </a:prstGeom>
          <a:solidFill>
            <a:srgbClr val="E0F2FE"/>
          </a:solidFill>
          <a:ln w="1524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PERIODE II • PANEN RAYA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 – Juli 2026: Tren Deflasi Konsisten Pasca Panen Raya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 Bergerak Negatif Hingga Menyentuh -2.02% Didorong Melimpahnya Pasokan Sayuran &amp; Bawang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0" y="384048"/>
            <a:ext cx="1463040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Badan Pusat Statistik &amp; SIPH Sulawesi Selatan 2026 | Evaluasi TPID Kab. Kepulauan Selayar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548640" y="1691640"/>
          <a:ext cx="6217920" cy="2194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0" name="Chart 1"/>
          <p:cNvGraphicFramePr/>
          <p:nvPr/>
        </p:nvGraphicFramePr>
        <p:xfrm>
          <a:off x="548640" y="4023360"/>
          <a:ext cx="621792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Shape 6"/>
          <p:cNvSpPr/>
          <p:nvPr/>
        </p:nvSpPr>
        <p:spPr>
          <a:xfrm>
            <a:off x="6949440" y="1691640"/>
            <a:ext cx="469361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7178040" y="179222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PASOKAN PANEN HORTIKULTURA MELIMPAH</a:t>
            </a:r>
            <a:endParaRPr lang="en-US" sz="1150" dirty="0"/>
          </a:p>
        </p:txBody>
      </p:sp>
      <p:sp>
        <p:nvSpPr>
          <p:cNvPr id="13" name="Text 8"/>
          <p:cNvSpPr/>
          <p:nvPr/>
        </p:nvSpPr>
        <p:spPr>
          <a:xfrm>
            <a:off x="7178040" y="20665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Sepanjang Juli 2026, produksi cabai dan bawang merah di sentra daratan Sulsel (Enrekang, Jeneponto, Bantaeng) melimpah. Pasokan masuk lancar ke Selayar melalui pelabuhan feri Bira - Pamatata dengan volume tinggi.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6949440" y="3291840"/>
            <a:ext cx="469361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7178040" y="339242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MINGGU DEFLASI BERUNTUN DI JULI 2026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7178040" y="36667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Bulan Juli mencatat deflasi mingguan berurutan: M1 (-1.31%), M2 (-1.62%), M3 (-1.82%), M4 (-1.97%), dan M5 (-2.02%). Kondisi ini memberikan bantalan daya beli yang sangat sehat bagi masyarakat Kepulauan Selayar.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949440" y="4892040"/>
            <a:ext cx="469361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3"/>
          <p:cNvSpPr/>
          <p:nvPr/>
        </p:nvSpPr>
        <p:spPr>
          <a:xfrm>
            <a:off x="7178040" y="499262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KOMODITAS PENYUMBANG DEFLASI UTAMA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7178040" y="52669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Cabai Rawit: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Andil deflasi terdalam (-0.64%), harga eceran turun stabil di pasar.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Daging Ayam Ras: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Andil deflasi (-0.61%), pasokan karkas melimpah pasca HBKN.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Bawang Merah: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Andil deflasi (-0.42%), suplai daratan Sulawesi sangat lancar.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3291840" cy="329184"/>
          </a:xfrm>
          <a:prstGeom prst="roundRect">
            <a:avLst>
              <a:gd name="adj" fmla="val 22222"/>
            </a:avLst>
          </a:prstGeom>
          <a:solidFill>
            <a:srgbClr val="E0F2FE"/>
          </a:solidFill>
          <a:ln w="1524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PERIODE III • MUSIM PERALIHAN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– Oktober 2026: Rebound Inflasi Komoditas Pangan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 Kembali Merangkak Positif Dipicu Lonjakan Cabai Rawit &amp; Kenaikan Bertahap Harga Beras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0" y="384048"/>
            <a:ext cx="1463040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Badan Pusat Statistik &amp; SIPH Sulawesi Selatan 2026 | Evaluasi TPID Kab. Kepulauan Selayar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548640" y="1691640"/>
          <a:ext cx="6217920" cy="2194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0" name="Chart 1"/>
          <p:cNvGraphicFramePr/>
          <p:nvPr/>
        </p:nvGraphicFramePr>
        <p:xfrm>
          <a:off x="548640" y="4023360"/>
          <a:ext cx="621792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Shape 6"/>
          <p:cNvSpPr/>
          <p:nvPr/>
        </p:nvSpPr>
        <p:spPr>
          <a:xfrm>
            <a:off x="6949440" y="1691640"/>
            <a:ext cx="469361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7178040" y="179222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PERALIHAN MUSIM &amp; PENURUNAN PANEN HORTIKULTURA</a:t>
            </a:r>
            <a:endParaRPr lang="en-US" sz="1150" dirty="0"/>
          </a:p>
        </p:txBody>
      </p:sp>
      <p:sp>
        <p:nvSpPr>
          <p:cNvPr id="13" name="Text 8"/>
          <p:cNvSpPr/>
          <p:nvPr/>
        </p:nvSpPr>
        <p:spPr>
          <a:xfrm>
            <a:off x="7178040" y="20665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Memasuki akhir kuartal III 2026, panen cabai lokal di pulau Selayar mulai berkurang. Keterbatasan suplai menyebabkan harga cabai rawit dan cabai merah kembali merangkak naik di pasar tradisional.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6949440" y="3291840"/>
            <a:ext cx="469361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7178040" y="339242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TEKANAN BERAS DI AWAL OKTOBER 2026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7178040" y="36667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Pada minggu ke-1 Oktober 2026, IPH berada di level +0.84% dengan Beras sebagai komoditas bergejolak utama. Pergerakan harga gabah daratan mulai terasa pada harga eceran beras medium di Kepulauan Selayar.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949440" y="4892040"/>
            <a:ext cx="469361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3"/>
          <p:cNvSpPr/>
          <p:nvPr/>
        </p:nvSpPr>
        <p:spPr>
          <a:xfrm>
            <a:off x="7178040" y="499262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KOMODITAS PENYUMBANG KENAIKAN AKHIR Q3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7178040" y="52669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Cabai Rawit: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Andil inflasi hingga +1.13% (September W4), fluktuasi tertinggi.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Cabai Merah: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Andil +0.62%, permintaan stabil namun suplai lokal menipis.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Beras: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Andil +0.53%, menjadi pemicu utama kenaikan awal Oktober 2026.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3291840" cy="329184"/>
          </a:xfrm>
          <a:prstGeom prst="roundRect">
            <a:avLst>
              <a:gd name="adj" fmla="val 22222"/>
            </a:avLst>
          </a:prstGeom>
          <a:solidFill>
            <a:srgbClr val="E0F2FE"/>
          </a:solidFill>
          <a:ln w="1524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KOMODITAS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Komoditas Bergejolak Kabupaten Kepulauan Selayar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Cabai Rawit Memimpin Frekuensi Fluktuasi (15x), Disusul Telur Ayam Ras, Beras, dan Cabai Merah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0" y="384048"/>
            <a:ext cx="1463040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Badan Pusat Statistik &amp; SIPH Sulawesi Selatan 2026 | Evaluasi TPID Kab. Kepulauan Selayar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548640" y="1691640"/>
          <a:ext cx="6217920" cy="4617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Shape 6"/>
          <p:cNvSpPr/>
          <p:nvPr/>
        </p:nvSpPr>
        <p:spPr>
          <a:xfrm>
            <a:off x="6949440" y="1691640"/>
            <a:ext cx="469361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7178040" y="179222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KLASTER HORTIKULTURA: KERENTANAN TINGGI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7178040" y="20665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Cabai Rawit menjadi komoditas paling volatil dengan 15 kali tercatat sebagai pemicu gejolak utama sepanjang 2026. Sifatnya yang lekas rusak (perishable) dan ketergantungan pasokan daratan menjadikannya indikator paling sensitif.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949440" y="3291840"/>
            <a:ext cx="469361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7178040" y="339242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KLASTER PROTEIN HEWANI: SENSITIF HBKN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7178040" y="36667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Telur Ayam Ras (5x gejolak) dan Daging Ayam (3x gejolak) mendominasi lonjakan harga pada momen perayaan dan hari libur. Pasokan ayam petelur lokal belum mampu memenuhi kebutuhan mandiri seluruh pulau.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949440" y="4892040"/>
            <a:ext cx="469361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7178040" y="499262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KLASTER PANGAN POKOK: BERAS STRATEGIS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78040" y="52669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Beras tercatat 4 kali sebagai fluktuasi tertinggi pada 2026. Meskipun Selayar memiliki buffer stock BULOG, stabilitas harga beras tetap membutuhkan pengawasan jalur logistik laut dan kepatuhan terhadap HET pasar.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3291840" cy="329184"/>
          </a:xfrm>
          <a:prstGeom prst="roundRect">
            <a:avLst>
              <a:gd name="adj" fmla="val 22222"/>
            </a:avLst>
          </a:prstGeom>
          <a:solidFill>
            <a:srgbClr val="E0F2FE"/>
          </a:solidFill>
          <a:ln w="1524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REKOMENDASI KEBIJAKAN TPID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Rencana Aksi Pengendalian Inflasi Daerah 2026 (Kerangka 4K)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 Preventif Berbasis Evaluasi IPH Mingguan Untuk Menjaga Stabilitas Harga di Kepulauan Selayar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0" y="384048"/>
            <a:ext cx="1463040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Badan Pusat Statistik &amp; SIPH Sulawesi Selatan 2026 | Evaluasi TPID Kab. Kepulauan Selayar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1691640"/>
            <a:ext cx="534924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77240" y="1856232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18562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353312" y="18928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KETERJANGKAUAN HARGA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77240" y="228600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Pelaksanaan Gerakan Pangan Murah (GPM) berkala dan operasi pasar terarah di sentra pulau, terutama pada H-14 momen HBKN Idul Fitri dan Nataru, dengan subsidi selisih harga komoditas pokok.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77240" y="3044952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i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Menjaga daya beli masyarakat berpenghasilan rendah.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263640" y="1691640"/>
            <a:ext cx="534924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92240" y="1856232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92240" y="18562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068312" y="18928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KETERSEDIAAN PASOKAN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92240" y="228600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Penguatan cadangan pangan pemerintah daerah (CPPD) bersama BULOG, optimalisasi fasilitas cold storage komunal untuk cabai &amp; bawang, serta penguatan Kerjasama Antar Daerah (KAD) dengan sentra daratan Sulsel.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92240" y="3044952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i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Stok aman minimal 3-4 minggu saat cuaca laut ekstrem.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611880"/>
            <a:ext cx="534924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7240" y="3776472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77240" y="377647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353312" y="381304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KELANCARAN DISTRIBUSI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777240" y="420624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Pemberian dispensasi prioritas muatan bagi truk bahan pangan pokok di pelabuhan feri Bira - Pamatata, koordinasi kesiapan armada ASDP, serta subsidi ongkos angkut (SOA) maritim saat ombak tinggi.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77240" y="4965192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Arus barang tidak terputus lebih dari 48 jam.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263640" y="3611880"/>
            <a:ext cx="534924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92240" y="3776472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492240" y="377647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068312" y="381304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KOMUNIKASI EFEKTIF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6492240" y="420624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Publikasi berkala update harga komoditas pangan melalui kanal resmi dan radio daerah untuk mencegah kepanikan belanja (panic buying), sidak penimbunan di tingkat grosir, serta imbauan belanja bijak.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6492240" y="4965192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Ekspektasi inflasi masyarakat tetap rasional dan tenang.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53212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 w="15240">
            <a:solidFill>
              <a:srgbClr val="93C5FD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77240" y="560527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Fokus Pemantauan Komoditas Prioritas 2026: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Cabai Rawit (15x volatil), Telur Ayam Ras, Daging Sapi/Ayam saat HBKN, dan Beras di awal musim hujan.
</a:t>
            </a: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*Rujukan Ketahanan Pangan: </a:t>
            </a: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Kebijakan harga dan pasokan diarahkan untuk menjamin terpenuhinya standar Angka Kecukupan Gizi (AKG) 2.100 kkal / kapita / hari.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5486400" cy="5394960"/>
          </a:xfrm>
          <a:prstGeom prst="roundRect">
            <a:avLst>
              <a:gd name="adj" fmla="val 2542"/>
            </a:avLst>
          </a:prstGeom>
          <a:solidFill>
            <a:srgbClr val="1E293B"/>
          </a:solidFill>
          <a:ln w="25400">
            <a:solidFill>
              <a:srgbClr val="475569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18872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24231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1188720" y="31546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Sinergi Kuat Menjaga Stabilitas Harga &amp; Kesejahteraan Masyarakat Kepulauan Selayar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1188720" y="3931920"/>
            <a:ext cx="4572000" cy="1737360"/>
          </a:xfrm>
          <a:prstGeom prst="roundRect">
            <a:avLst>
              <a:gd name="adj" fmla="val 5263"/>
            </a:avLst>
          </a:prstGeom>
          <a:solidFill>
            <a:srgbClr val="0F172A"/>
          </a:solidFill>
          <a:ln w="15240">
            <a:solidFill>
              <a:srgbClr val="47556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371600" y="40690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Pengendalian Inflasi Daerah (TPID)
</a:t>
            </a:r>
            <a:endParaRPr lang="en-US" sz="14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Kabupaten Kepulauan Selayar Tahun 2026
</a:t>
            </a:r>
            <a:endParaRPr lang="en-US" sz="1400" dirty="0"/>
          </a:p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Sekretariat: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Perekonomian Setda Kab. Kepulauan Selayar
</a:t>
            </a:r>
            <a:endParaRPr lang="en-US" sz="1400" dirty="0"/>
          </a:p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Mitra Data: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BPS Kabupaten Kepulauan Selayar
</a:t>
            </a:r>
            <a:endParaRPr lang="en-US" sz="1400" dirty="0"/>
          </a:p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IPH: </a:t>
            </a: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https://ridsonap.github.io/siph/?kab=7301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92240" y="731520"/>
            <a:ext cx="4967935" cy="5394960"/>
          </a:xfrm>
          <a:prstGeom prst="roundRect">
            <a:avLst>
              <a:gd name="adj" fmla="val 2761"/>
            </a:avLst>
          </a:prstGeom>
          <a:solidFill>
            <a:srgbClr val="1E293B"/>
          </a:solidFill>
          <a:ln w="25400">
            <a:solidFill>
              <a:srgbClr val="F59E0B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188720"/>
            <a:ext cx="1737360" cy="585216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1051560"/>
            <a:ext cx="1051560" cy="105156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949440" y="2103120"/>
            <a:ext cx="3474720" cy="347472"/>
          </a:xfrm>
          <a:prstGeom prst="roundRect">
            <a:avLst>
              <a:gd name="adj" fmla="val 21053"/>
            </a:avLst>
          </a:prstGeom>
          <a:solidFill>
            <a:srgbClr val="D97706"/>
          </a:solidFill>
          <a:ln w="15240">
            <a:solidFill>
              <a:srgbClr val="FBBF24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949440" y="210312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#MencatatEkonomiIndonesia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6949440" y="260604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SENSUS EKONOMI 2026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MILIK INDONESIA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6949440" y="352044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Bersama kita kawal pelaksanaan SENSUS EKONOMI 2026 untuk mewujudkan basis data ekonomi yang akurat, berdaulat, dan mendorong kemandirian perekonomian nasional.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949440" y="4617720"/>
            <a:ext cx="4114800" cy="1097280"/>
          </a:xfrm>
          <a:prstGeom prst="roundRect">
            <a:avLst>
              <a:gd name="adj" fmla="val 6667"/>
            </a:avLst>
          </a:prstGeom>
          <a:solidFill>
            <a:srgbClr val="0F172A"/>
          </a:solidFill>
          <a:ln w="15240">
            <a:solidFill>
              <a:srgbClr val="475569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7132320" y="47548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Badan Pusat Statistik (BPS)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Menyediakan Data Berkualitas untuk Indonesia Maju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www.bps.go.id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1438</Words>
  <Application>Microsoft Macintosh PowerPoint</Application>
  <PresentationFormat>Widescreen</PresentationFormat>
  <Paragraphs>121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Ridson Alfarizal</cp:lastModifiedBy>
  <cp:revision>1</cp:revision>
  <dcterms:created xsi:type="dcterms:W3CDTF">2026-10-09T07:52:20Z</dcterms:created>
  <dcterms:modified xsi:type="dcterms:W3CDTF">2026-10-09T07:54:18Z</dcterms:modified>
</cp:coreProperties>
</file>