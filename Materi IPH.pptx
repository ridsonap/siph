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224"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1833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731520" y="731520"/>
            <a:ext cx="10728655" cy="5394960"/>
          </a:xfrm>
          <a:prstGeom prst="roundRect">
            <a:avLst>
              <a:gd name="adj" fmla="val 2542"/>
            </a:avLst>
          </a:prstGeom>
          <a:solidFill>
            <a:srgbClr val="1E293B"/>
          </a:solidFill>
          <a:ln w="19050">
            <a:solidFill>
              <a:srgbClr val="334155"/>
            </a:solidFill>
            <a:prstDash val="solid"/>
          </a:ln>
        </p:spPr>
        <p:txBody>
          <a:bodyPr/>
          <a:lstStyle/>
          <a:p>
            <a:endParaRPr lang="en-US"/>
          </a:p>
        </p:txBody>
      </p:sp>
      <p:pic>
        <p:nvPicPr>
          <p:cNvPr id="3" name="Image 0" descr="/Volumes/work/_Projects/siph/assets/logos/logo_selayar.png"/>
          <p:cNvPicPr>
            <a:picLocks noChangeAspect="1"/>
          </p:cNvPicPr>
          <p:nvPr/>
        </p:nvPicPr>
        <p:blipFill>
          <a:blip r:embed="rId3"/>
          <a:stretch>
            <a:fillRect/>
          </a:stretch>
        </p:blipFill>
        <p:spPr>
          <a:xfrm>
            <a:off x="1188720" y="1143000"/>
            <a:ext cx="822960" cy="822960"/>
          </a:xfrm>
          <a:prstGeom prst="rect">
            <a:avLst/>
          </a:prstGeom>
        </p:spPr>
      </p:pic>
      <p:pic>
        <p:nvPicPr>
          <p:cNvPr id="4" name="Image 1" descr="/Volumes/work/_Projects/siph/assets/logos/logo_bps.png"/>
          <p:cNvPicPr>
            <a:picLocks noChangeAspect="1"/>
          </p:cNvPicPr>
          <p:nvPr/>
        </p:nvPicPr>
        <p:blipFill>
          <a:blip r:embed="rId4"/>
          <a:stretch>
            <a:fillRect/>
          </a:stretch>
        </p:blipFill>
        <p:spPr>
          <a:xfrm>
            <a:off x="2194560" y="1325880"/>
            <a:ext cx="1645920" cy="557784"/>
          </a:xfrm>
          <a:prstGeom prst="rect">
            <a:avLst/>
          </a:prstGeom>
        </p:spPr>
      </p:pic>
      <p:sp>
        <p:nvSpPr>
          <p:cNvPr id="5" name="Shape 1"/>
          <p:cNvSpPr/>
          <p:nvPr/>
        </p:nvSpPr>
        <p:spPr>
          <a:xfrm>
            <a:off x="1188720" y="2240280"/>
            <a:ext cx="4389120" cy="347472"/>
          </a:xfrm>
          <a:prstGeom prst="roundRect">
            <a:avLst>
              <a:gd name="adj" fmla="val 21053"/>
            </a:avLst>
          </a:prstGeom>
          <a:solidFill>
            <a:srgbClr val="0284C7"/>
          </a:solidFill>
          <a:ln w="12700">
            <a:solidFill>
              <a:srgbClr val="38BDF8"/>
            </a:solidFill>
            <a:prstDash val="solid"/>
          </a:ln>
        </p:spPr>
        <p:txBody>
          <a:bodyPr/>
          <a:lstStyle/>
          <a:p>
            <a:endParaRPr lang="en-US"/>
          </a:p>
        </p:txBody>
      </p:sp>
      <p:sp>
        <p:nvSpPr>
          <p:cNvPr id="6" name="Text 2"/>
          <p:cNvSpPr/>
          <p:nvPr/>
        </p:nvSpPr>
        <p:spPr>
          <a:xfrm>
            <a:off x="1188720" y="2240280"/>
            <a:ext cx="43891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TIM PENGENDALIAN INFLASI DAERAH (TPID) &amp; BPS</a:t>
            </a:r>
            <a:endParaRPr lang="en-US" sz="1000" dirty="0"/>
          </a:p>
        </p:txBody>
      </p:sp>
      <p:sp>
        <p:nvSpPr>
          <p:cNvPr id="7" name="Text 3"/>
          <p:cNvSpPr/>
          <p:nvPr/>
        </p:nvSpPr>
        <p:spPr>
          <a:xfrm>
            <a:off x="1188720" y="2697480"/>
            <a:ext cx="9601200" cy="1280160"/>
          </a:xfrm>
          <a:prstGeom prst="rect">
            <a:avLst/>
          </a:prstGeom>
          <a:noFill/>
          <a:ln/>
        </p:spPr>
        <p:txBody>
          <a:bodyPr wrap="square" lIns="0" tIns="0" rIns="0" bIns="0" rtlCol="0" anchor="ctr"/>
          <a:lstStyle/>
          <a:p>
            <a:pPr marL="0" indent="0">
              <a:lnSpc>
                <a:spcPts val="3400"/>
              </a:lnSpc>
              <a:buNone/>
            </a:pPr>
            <a:r>
              <a:rPr lang="en-US" sz="2800" b="1" dirty="0">
                <a:solidFill>
                  <a:srgbClr val="FFFFFF"/>
                </a:solidFill>
                <a:latin typeface="Calibri" pitchFamily="34" charset="0"/>
                <a:ea typeface="Calibri" pitchFamily="34" charset="-122"/>
                <a:cs typeface="Calibri" pitchFamily="34" charset="-120"/>
              </a:rPr>
              <a:t>Perkembangan Indeks Perkembangan Harga (IPH) 2026\nKabupaten Kepulauan Selayar</a:t>
            </a:r>
            <a:endParaRPr lang="en-US" sz="2800" dirty="0"/>
          </a:p>
        </p:txBody>
      </p:sp>
      <p:sp>
        <p:nvSpPr>
          <p:cNvPr id="8" name="Text 4"/>
          <p:cNvSpPr/>
          <p:nvPr/>
        </p:nvSpPr>
        <p:spPr>
          <a:xfrm>
            <a:off x="1188720" y="4069080"/>
            <a:ext cx="9326880" cy="457200"/>
          </a:xfrm>
          <a:prstGeom prst="rect">
            <a:avLst/>
          </a:prstGeom>
          <a:noFill/>
          <a:ln/>
        </p:spPr>
        <p:txBody>
          <a:bodyPr wrap="square" lIns="0" tIns="0" rIns="0" bIns="0" rtlCol="0" anchor="ctr"/>
          <a:lstStyle/>
          <a:p>
            <a:pPr marL="0" indent="0">
              <a:buNone/>
            </a:pPr>
            <a:r>
              <a:rPr lang="en-US" sz="1350" dirty="0">
                <a:solidFill>
                  <a:srgbClr val="94A3B8"/>
                </a:solidFill>
                <a:latin typeface="Calibri" pitchFamily="34" charset="0"/>
                <a:ea typeface="Calibri" pitchFamily="34" charset="-122"/>
                <a:cs typeface="Calibri" pitchFamily="34" charset="-120"/>
              </a:rPr>
              <a:t>Evaluasi Dinamika Fluktuasi Harga Mingguan, Komoditas Pemicu, dan Rekomendasi Kebijakan Pengendalian Inflasi (Januari – Oktober 2026)</a:t>
            </a:r>
            <a:endParaRPr lang="en-US" sz="1350" dirty="0"/>
          </a:p>
        </p:txBody>
      </p:sp>
      <p:sp>
        <p:nvSpPr>
          <p:cNvPr id="9" name="Shape 5"/>
          <p:cNvSpPr/>
          <p:nvPr/>
        </p:nvSpPr>
        <p:spPr>
          <a:xfrm>
            <a:off x="1188720" y="4709160"/>
            <a:ext cx="9784080" cy="1051560"/>
          </a:xfrm>
          <a:prstGeom prst="roundRect">
            <a:avLst>
              <a:gd name="adj" fmla="val 8696"/>
            </a:avLst>
          </a:prstGeom>
          <a:solidFill>
            <a:srgbClr val="0F172A"/>
          </a:solidFill>
          <a:ln w="12700">
            <a:solidFill>
              <a:srgbClr val="334155"/>
            </a:solidFill>
            <a:prstDash val="solid"/>
          </a:ln>
        </p:spPr>
        <p:txBody>
          <a:bodyPr/>
          <a:lstStyle/>
          <a:p>
            <a:endParaRPr lang="en-US"/>
          </a:p>
        </p:txBody>
      </p:sp>
      <p:sp>
        <p:nvSpPr>
          <p:cNvPr id="10" name="Text 6"/>
          <p:cNvSpPr/>
          <p:nvPr/>
        </p:nvSpPr>
        <p:spPr>
          <a:xfrm>
            <a:off x="1371600" y="4800600"/>
            <a:ext cx="9418320" cy="868680"/>
          </a:xfrm>
          <a:prstGeom prst="rect">
            <a:avLst/>
          </a:prstGeom>
          <a:noFill/>
          <a:ln/>
        </p:spPr>
        <p:txBody>
          <a:bodyPr wrap="square" lIns="0" tIns="0" rIns="0" bIns="0" rtlCol="0" anchor="ctr"/>
          <a:lstStyle/>
          <a:p>
            <a:pPr marL="0" indent="0">
              <a:buNone/>
            </a:pPr>
            <a:r>
              <a:rPr lang="en-US" sz="1100" b="1" dirty="0">
                <a:solidFill>
                  <a:srgbClr val="38BDF8"/>
                </a:solidFill>
                <a:latin typeface="Calibri" pitchFamily="34" charset="0"/>
                <a:ea typeface="Calibri" pitchFamily="34" charset="-122"/>
                <a:cs typeface="Calibri" pitchFamily="34" charset="-120"/>
              </a:rPr>
              <a:t>Forum: </a:t>
            </a:r>
            <a:r>
              <a:rPr lang="en-US" sz="1100" dirty="0">
                <a:solidFill>
                  <a:srgbClr val="F1F5F9"/>
                </a:solidFill>
                <a:latin typeface="Calibri" pitchFamily="34" charset="0"/>
                <a:ea typeface="Calibri" pitchFamily="34" charset="-122"/>
                <a:cs typeface="Calibri" pitchFamily="34" charset="-120"/>
              </a:rPr>
              <a:t>High Level Meeting (HLM) dan Capacity Building Penyusunan Neraca Pangan Daerah </a:t>
            </a:r>
            <a:r>
              <a:rPr lang="en-US" sz="1100" dirty="0" err="1">
                <a:solidFill>
                  <a:srgbClr val="F1F5F9"/>
                </a:solidFill>
                <a:latin typeface="Calibri" pitchFamily="34" charset="0"/>
                <a:ea typeface="Calibri" pitchFamily="34" charset="-122"/>
                <a:cs typeface="Calibri" pitchFamily="34" charset="-120"/>
              </a:rPr>
              <a:t>Tahun</a:t>
            </a:r>
            <a:r>
              <a:rPr lang="en-US" sz="1100" dirty="0">
                <a:solidFill>
                  <a:srgbClr val="F1F5F9"/>
                </a:solidFill>
                <a:latin typeface="Calibri" pitchFamily="34" charset="0"/>
                <a:ea typeface="Calibri" pitchFamily="34" charset="-122"/>
                <a:cs typeface="Calibri" pitchFamily="34" charset="-120"/>
              </a:rPr>
              <a:t> 2026</a:t>
            </a:r>
          </a:p>
          <a:p>
            <a:pPr marL="0" indent="0">
              <a:buNone/>
            </a:pPr>
            <a:r>
              <a:rPr lang="en-US" sz="1100" b="1" dirty="0" err="1">
                <a:solidFill>
                  <a:srgbClr val="38BDF8"/>
                </a:solidFill>
                <a:latin typeface="Calibri" pitchFamily="34" charset="0"/>
                <a:ea typeface="Calibri" pitchFamily="34" charset="-122"/>
                <a:cs typeface="Calibri" pitchFamily="34" charset="-120"/>
              </a:rPr>
              <a:t>Cakupan</a:t>
            </a:r>
            <a:r>
              <a:rPr lang="en-US" sz="1100" b="1" dirty="0">
                <a:solidFill>
                  <a:srgbClr val="38BDF8"/>
                </a:solidFill>
                <a:latin typeface="Calibri" pitchFamily="34" charset="0"/>
                <a:ea typeface="Calibri" pitchFamily="34" charset="-122"/>
                <a:cs typeface="Calibri" pitchFamily="34" charset="-120"/>
              </a:rPr>
              <a:t> Evaluasi: </a:t>
            </a:r>
            <a:r>
              <a:rPr lang="en-US" sz="1100" dirty="0">
                <a:solidFill>
                  <a:srgbClr val="CBD5E1"/>
                </a:solidFill>
                <a:latin typeface="Calibri" pitchFamily="34" charset="0"/>
                <a:ea typeface="Calibri" pitchFamily="34" charset="-122"/>
                <a:cs typeface="Calibri" pitchFamily="34" charset="-120"/>
              </a:rPr>
              <a:t>33 Rilis Mingguan (Januari – Oktober 2026)  |  </a:t>
            </a:r>
            <a:r>
              <a:rPr lang="en-US" sz="1100" b="1" dirty="0">
                <a:solidFill>
                  <a:srgbClr val="38BDF8"/>
                </a:solidFill>
                <a:latin typeface="Calibri" pitchFamily="34" charset="0"/>
                <a:ea typeface="Calibri" pitchFamily="34" charset="-122"/>
                <a:cs typeface="Calibri" pitchFamily="34" charset="-120"/>
              </a:rPr>
              <a:t>Sumber Data: </a:t>
            </a:r>
            <a:r>
              <a:rPr lang="en-US" sz="1100" dirty="0">
                <a:solidFill>
                  <a:srgbClr val="CBD5E1"/>
                </a:solidFill>
                <a:latin typeface="Calibri" pitchFamily="34" charset="0"/>
                <a:ea typeface="Calibri" pitchFamily="34" charset="-122"/>
                <a:cs typeface="Calibri" pitchFamily="34" charset="-120"/>
              </a:rPr>
              <a:t>Sistem SP2KP BPS RI &amp; SIPH Sulawesi Selatan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411480"/>
            <a:ext cx="3108960" cy="292608"/>
          </a:xfrm>
          <a:prstGeom prst="roundRect">
            <a:avLst>
              <a:gd name="adj" fmla="val 25000"/>
            </a:avLst>
          </a:prstGeom>
          <a:solidFill>
            <a:srgbClr val="E0F2FE"/>
          </a:solidFill>
          <a:ln w="12700">
            <a:solidFill>
              <a:srgbClr val="BAE6FD"/>
            </a:solidFill>
            <a:prstDash val="solid"/>
          </a:ln>
        </p:spPr>
        <p:txBody>
          <a:bodyPr/>
          <a:lstStyle/>
          <a:p>
            <a:endParaRPr lang="en-US"/>
          </a:p>
        </p:txBody>
      </p:sp>
      <p:sp>
        <p:nvSpPr>
          <p:cNvPr id="3" name="Text 1"/>
          <p:cNvSpPr/>
          <p:nvPr/>
        </p:nvSpPr>
        <p:spPr>
          <a:xfrm>
            <a:off x="548640" y="411480"/>
            <a:ext cx="3108960" cy="292608"/>
          </a:xfrm>
          <a:prstGeom prst="rect">
            <a:avLst/>
          </a:prstGeom>
          <a:noFill/>
          <a:ln/>
        </p:spPr>
        <p:txBody>
          <a:bodyPr wrap="square" lIns="0" tIns="0" rIns="0" bIns="0" rtlCol="0" anchor="ctr"/>
          <a:lstStyle/>
          <a:p>
            <a:pPr marL="0" indent="0" algn="ctr">
              <a:buNone/>
            </a:pPr>
            <a:r>
              <a:rPr lang="en-US" sz="850" b="1" dirty="0">
                <a:solidFill>
                  <a:srgbClr val="0369A1"/>
                </a:solidFill>
                <a:latin typeface="Calibri" pitchFamily="34" charset="0"/>
                <a:ea typeface="Calibri" pitchFamily="34" charset="-122"/>
                <a:cs typeface="Calibri" pitchFamily="34" charset="-120"/>
              </a:rPr>
              <a:t>TINJAUAN TAHUNAN 2026</a:t>
            </a:r>
            <a:endParaRPr lang="en-US" sz="850" dirty="0"/>
          </a:p>
        </p:txBody>
      </p:sp>
      <p:sp>
        <p:nvSpPr>
          <p:cNvPr id="4" name="Text 2"/>
          <p:cNvSpPr/>
          <p:nvPr/>
        </p:nvSpPr>
        <p:spPr>
          <a:xfrm>
            <a:off x="548640" y="777240"/>
            <a:ext cx="9601200" cy="438912"/>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Dinamika IPH Kabupaten Kepulauan Selayar Sepanjang 2026</a:t>
            </a:r>
            <a:endParaRPr lang="en-US" sz="2000" dirty="0"/>
          </a:p>
        </p:txBody>
      </p:sp>
      <p:sp>
        <p:nvSpPr>
          <p:cNvPr id="5" name="Text 3"/>
          <p:cNvSpPr/>
          <p:nvPr/>
        </p:nvSpPr>
        <p:spPr>
          <a:xfrm>
            <a:off x="548640" y="1234440"/>
            <a:ext cx="960120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Tren Harga: Fluktuasi Ekstrem Saat HBKN April Diikuti Deflasi Panjang dan Rebound di Q3</a:t>
            </a:r>
            <a:endParaRPr lang="en-US" sz="1200" dirty="0"/>
          </a:p>
        </p:txBody>
      </p:sp>
      <p:pic>
        <p:nvPicPr>
          <p:cNvPr id="6" name="Image 0" descr="/Volumes/work/_Projects/siph/assets/logos/logo_bps.png"/>
          <p:cNvPicPr>
            <a:picLocks noChangeAspect="1"/>
          </p:cNvPicPr>
          <p:nvPr/>
        </p:nvPicPr>
        <p:blipFill>
          <a:blip r:embed="rId3"/>
          <a:stretch>
            <a:fillRect/>
          </a:stretch>
        </p:blipFill>
        <p:spPr>
          <a:xfrm>
            <a:off x="10241280" y="411480"/>
            <a:ext cx="1371600" cy="466344"/>
          </a:xfrm>
          <a:prstGeom prst="rect">
            <a:avLst/>
          </a:prstGeom>
        </p:spPr>
      </p:pic>
      <p:sp>
        <p:nvSpPr>
          <p:cNvPr id="7" name="Text 4"/>
          <p:cNvSpPr/>
          <p:nvPr/>
        </p:nvSpPr>
        <p:spPr>
          <a:xfrm>
            <a:off x="548640" y="6446520"/>
            <a:ext cx="91440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Sumber: Badan Pusat Statistik &amp; SIPH Sulawesi Selatan 2026 | Evaluasi TPID Kab. Kepulauan Selayar</a:t>
            </a:r>
            <a:endParaRPr lang="en-US" sz="900" dirty="0"/>
          </a:p>
        </p:txBody>
      </p:sp>
      <p:sp>
        <p:nvSpPr>
          <p:cNvPr id="8" name="Text 5"/>
          <p:cNvSpPr/>
          <p:nvPr/>
        </p:nvSpPr>
        <p:spPr>
          <a:xfrm>
            <a:off x="10972800" y="6446520"/>
            <a:ext cx="640080" cy="274320"/>
          </a:xfrm>
          <a:prstGeom prst="rect">
            <a:avLst/>
          </a:prstGeom>
          <a:noFill/>
          <a:ln/>
        </p:spPr>
        <p:txBody>
          <a:bodyPr wrap="square" lIns="0" tIns="0" rIns="0" bIns="0" rtlCol="0" anchor="ctr"/>
          <a:lstStyle/>
          <a:p>
            <a:pPr marL="0" indent="0" algn="r">
              <a:buNone/>
            </a:pPr>
            <a:r>
              <a:rPr lang="en-US" sz="1000" b="1" dirty="0">
                <a:solidFill>
                  <a:srgbClr val="94A3B8"/>
                </a:solidFill>
                <a:latin typeface="Calibri" pitchFamily="34" charset="0"/>
                <a:ea typeface="Calibri" pitchFamily="34" charset="-122"/>
                <a:cs typeface="Calibri" pitchFamily="34" charset="-120"/>
              </a:rPr>
              <a:t>2</a:t>
            </a:r>
            <a:endParaRPr lang="en-US" sz="1000" dirty="0"/>
          </a:p>
        </p:txBody>
      </p:sp>
      <p:sp>
        <p:nvSpPr>
          <p:cNvPr id="9" name="Shape 6"/>
          <p:cNvSpPr/>
          <p:nvPr/>
        </p:nvSpPr>
        <p:spPr>
          <a:xfrm>
            <a:off x="548640" y="1691640"/>
            <a:ext cx="6583680" cy="4617720"/>
          </a:xfrm>
          <a:prstGeom prst="roundRect">
            <a:avLst>
              <a:gd name="adj" fmla="val 2376"/>
            </a:avLst>
          </a:prstGeom>
          <a:solidFill>
            <a:srgbClr val="FFFFFF"/>
          </a:solidFill>
          <a:ln w="12700">
            <a:solidFill>
              <a:srgbClr val="E2E8F0"/>
            </a:solidFill>
            <a:prstDash val="solid"/>
          </a:ln>
        </p:spPr>
        <p:txBody>
          <a:bodyPr/>
          <a:lstStyle/>
          <a:p>
            <a:endParaRPr lang="en-US"/>
          </a:p>
        </p:txBody>
      </p:sp>
      <p:pic>
        <p:nvPicPr>
          <p:cNvPr id="10" name="Image 1" descr="/Volumes/work/_Projects/siph/assets/charts/chart_slide2.png"/>
          <p:cNvPicPr>
            <a:picLocks noChangeAspect="1"/>
          </p:cNvPicPr>
          <p:nvPr/>
        </p:nvPicPr>
        <p:blipFill>
          <a:blip r:embed="rId4"/>
          <a:stretch>
            <a:fillRect/>
          </a:stretch>
        </p:blipFill>
        <p:spPr>
          <a:xfrm>
            <a:off x="685800" y="1783080"/>
            <a:ext cx="6309360" cy="4434840"/>
          </a:xfrm>
          <a:prstGeom prst="rect">
            <a:avLst/>
          </a:prstGeom>
        </p:spPr>
      </p:pic>
      <p:sp>
        <p:nvSpPr>
          <p:cNvPr id="11" name="Shape 7"/>
          <p:cNvSpPr/>
          <p:nvPr/>
        </p:nvSpPr>
        <p:spPr>
          <a:xfrm>
            <a:off x="7315200" y="1691640"/>
            <a:ext cx="4327855" cy="1417320"/>
          </a:xfrm>
          <a:prstGeom prst="roundRect">
            <a:avLst>
              <a:gd name="adj" fmla="val 6452"/>
            </a:avLst>
          </a:prstGeom>
          <a:solidFill>
            <a:srgbClr val="FFFFFF"/>
          </a:solidFill>
          <a:ln w="12700">
            <a:solidFill>
              <a:srgbClr val="FCA5A5"/>
            </a:solidFill>
            <a:prstDash val="solid"/>
          </a:ln>
        </p:spPr>
        <p:txBody>
          <a:bodyPr/>
          <a:lstStyle/>
          <a:p>
            <a:endParaRPr lang="en-US"/>
          </a:p>
        </p:txBody>
      </p:sp>
      <p:sp>
        <p:nvSpPr>
          <p:cNvPr id="12" name="Text 8"/>
          <p:cNvSpPr/>
          <p:nvPr/>
        </p:nvSpPr>
        <p:spPr>
          <a:xfrm>
            <a:off x="7498080" y="1810512"/>
            <a:ext cx="3931920" cy="228600"/>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PUNCAK FLUKTUASI HBKN (APRIL 2026)</a:t>
            </a:r>
            <a:endParaRPr lang="en-US" sz="1000" dirty="0"/>
          </a:p>
        </p:txBody>
      </p:sp>
      <p:sp>
        <p:nvSpPr>
          <p:cNvPr id="13" name="Text 9"/>
          <p:cNvSpPr/>
          <p:nvPr/>
        </p:nvSpPr>
        <p:spPr>
          <a:xfrm>
            <a:off x="7498080" y="2057400"/>
            <a:ext cx="3931920" cy="960120"/>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 Rentang Ayunan: </a:t>
            </a:r>
            <a:r>
              <a:rPr lang="en-US" sz="1050" b="1" dirty="0">
                <a:solidFill>
                  <a:srgbClr val="DC2626"/>
                </a:solidFill>
                <a:latin typeface="Calibri" pitchFamily="34" charset="0"/>
                <a:ea typeface="Calibri" pitchFamily="34" charset="-122"/>
                <a:cs typeface="Calibri" pitchFamily="34" charset="-120"/>
              </a:rPr>
              <a:t>-3.29% s.d. +3.29%</a:t>
            </a:r>
            <a:endParaRPr lang="en-US" sz="1050" dirty="0"/>
          </a:p>
          <a:p>
            <a:pPr marL="0" indent="0">
              <a:buNone/>
            </a:pPr>
            <a:r>
              <a:rPr lang="en-US" sz="1000" dirty="0">
                <a:solidFill>
                  <a:srgbClr val="64748B"/>
                </a:solidFill>
                <a:latin typeface="Calibri" pitchFamily="34" charset="0"/>
                <a:ea typeface="Calibri" pitchFamily="34" charset="-122"/>
                <a:cs typeface="Calibri" pitchFamily="34" charset="-120"/>
              </a:rPr>
              <a:t>• Analisis: Lonjakan belanja Idul Fitri pada Daging Sapi (+2.17%) dan Telur Ayam (+1.35%) memicu puncak inflasi sebelum terkoreksi tajam.</a:t>
            </a:r>
            <a:endParaRPr lang="en-US" sz="1050" dirty="0"/>
          </a:p>
        </p:txBody>
      </p:sp>
      <p:sp>
        <p:nvSpPr>
          <p:cNvPr id="14" name="Shape 10"/>
          <p:cNvSpPr/>
          <p:nvPr/>
        </p:nvSpPr>
        <p:spPr>
          <a:xfrm>
            <a:off x="7315200" y="3291840"/>
            <a:ext cx="4327855" cy="1417320"/>
          </a:xfrm>
          <a:prstGeom prst="roundRect">
            <a:avLst>
              <a:gd name="adj" fmla="val 6452"/>
            </a:avLst>
          </a:prstGeom>
          <a:solidFill>
            <a:srgbClr val="FFFFFF"/>
          </a:solidFill>
          <a:ln w="12700">
            <a:solidFill>
              <a:srgbClr val="86EFAC"/>
            </a:solidFill>
            <a:prstDash val="solid"/>
          </a:ln>
        </p:spPr>
        <p:txBody>
          <a:bodyPr/>
          <a:lstStyle/>
          <a:p>
            <a:endParaRPr lang="en-US"/>
          </a:p>
        </p:txBody>
      </p:sp>
      <p:sp>
        <p:nvSpPr>
          <p:cNvPr id="15" name="Text 11"/>
          <p:cNvSpPr/>
          <p:nvPr/>
        </p:nvSpPr>
        <p:spPr>
          <a:xfrm>
            <a:off x="7498080" y="3410712"/>
            <a:ext cx="3931920" cy="228600"/>
          </a:xfrm>
          <a:prstGeom prst="rect">
            <a:avLst/>
          </a:prstGeom>
          <a:noFill/>
          <a:ln/>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FASE DEFLASI PANJANG (MEI – AGUSTUS 2026)</a:t>
            </a:r>
            <a:endParaRPr lang="en-US" sz="1000" dirty="0"/>
          </a:p>
        </p:txBody>
      </p:sp>
      <p:sp>
        <p:nvSpPr>
          <p:cNvPr id="16" name="Text 12"/>
          <p:cNvSpPr/>
          <p:nvPr/>
        </p:nvSpPr>
        <p:spPr>
          <a:xfrm>
            <a:off x="7498080" y="3657600"/>
            <a:ext cx="3931920" cy="960120"/>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 Titik Deflasi Terendah: </a:t>
            </a:r>
            <a:r>
              <a:rPr lang="en-US" sz="1050" b="1" dirty="0">
                <a:solidFill>
                  <a:srgbClr val="16A34A"/>
                </a:solidFill>
                <a:latin typeface="Calibri" pitchFamily="34" charset="0"/>
                <a:ea typeface="Calibri" pitchFamily="34" charset="-122"/>
                <a:cs typeface="Calibri" pitchFamily="34" charset="-120"/>
              </a:rPr>
              <a:t>-2.02% di Juli (M5)</a:t>
            </a:r>
            <a:endParaRPr lang="en-US" sz="1050" dirty="0"/>
          </a:p>
          <a:p>
            <a:pPr marL="0" indent="0">
              <a:buNone/>
            </a:pPr>
            <a:r>
              <a:rPr lang="en-US" sz="1000" dirty="0">
                <a:solidFill>
                  <a:srgbClr val="64748B"/>
                </a:solidFill>
                <a:latin typeface="Calibri" pitchFamily="34" charset="0"/>
                <a:ea typeface="Calibri" pitchFamily="34" charset="-122"/>
                <a:cs typeface="Calibri" pitchFamily="34" charset="-120"/>
              </a:rPr>
              <a:t>• Analisis: Melimpahnya panen cabai rawit dan pasokan beras daratan Sulsel selama kondisi perairan laut stabil menjaga daya beli warga.</a:t>
            </a:r>
            <a:endParaRPr lang="en-US" sz="1050" dirty="0"/>
          </a:p>
        </p:txBody>
      </p:sp>
      <p:sp>
        <p:nvSpPr>
          <p:cNvPr id="17" name="Shape 13"/>
          <p:cNvSpPr/>
          <p:nvPr/>
        </p:nvSpPr>
        <p:spPr>
          <a:xfrm>
            <a:off x="7315200" y="4892040"/>
            <a:ext cx="4327855" cy="1417320"/>
          </a:xfrm>
          <a:prstGeom prst="roundRect">
            <a:avLst>
              <a:gd name="adj" fmla="val 6452"/>
            </a:avLst>
          </a:prstGeom>
          <a:solidFill>
            <a:srgbClr val="FFFFFF"/>
          </a:solidFill>
          <a:ln w="12700">
            <a:solidFill>
              <a:srgbClr val="FDE68A"/>
            </a:solidFill>
            <a:prstDash val="solid"/>
          </a:ln>
        </p:spPr>
        <p:txBody>
          <a:bodyPr/>
          <a:lstStyle/>
          <a:p>
            <a:endParaRPr lang="en-US"/>
          </a:p>
        </p:txBody>
      </p:sp>
      <p:sp>
        <p:nvSpPr>
          <p:cNvPr id="18" name="Text 14"/>
          <p:cNvSpPr/>
          <p:nvPr/>
        </p:nvSpPr>
        <p:spPr>
          <a:xfrm>
            <a:off x="7498080" y="5010912"/>
            <a:ext cx="3931920" cy="228600"/>
          </a:xfrm>
          <a:prstGeom prst="rect">
            <a:avLst/>
          </a:prstGeom>
          <a:noFill/>
          <a:ln/>
        </p:spPr>
        <p:txBody>
          <a:bodyPr wrap="square" lIns="0" tIns="0" rIns="0" bIns="0" rtlCol="0" anchor="ctr"/>
          <a:lstStyle/>
          <a:p>
            <a:pPr marL="0" indent="0">
              <a:buNone/>
            </a:pPr>
            <a:r>
              <a:rPr lang="en-US" sz="1000" b="1" dirty="0">
                <a:solidFill>
                  <a:srgbClr val="D97706"/>
                </a:solidFill>
                <a:latin typeface="Calibri" pitchFamily="34" charset="0"/>
                <a:ea typeface="Calibri" pitchFamily="34" charset="-122"/>
                <a:cs typeface="Calibri" pitchFamily="34" charset="-120"/>
              </a:rPr>
              <a:t>REBOUND TEKANAN HARGA (SEP – OKT 2026)</a:t>
            </a:r>
            <a:endParaRPr lang="en-US" sz="1000" dirty="0"/>
          </a:p>
        </p:txBody>
      </p:sp>
      <p:sp>
        <p:nvSpPr>
          <p:cNvPr id="19" name="Text 15"/>
          <p:cNvSpPr/>
          <p:nvPr/>
        </p:nvSpPr>
        <p:spPr>
          <a:xfrm>
            <a:off x="7498080" y="5257800"/>
            <a:ext cx="3931920" cy="960120"/>
          </a:xfrm>
          <a:prstGeom prst="rect">
            <a:avLst/>
          </a:prstGeom>
          <a:noFill/>
          <a:ln/>
        </p:spPr>
        <p:txBody>
          <a:bodyPr wrap="square" lIns="0" tIns="0" rIns="0" bIns="0" rtlCol="0" anchor="ctr"/>
          <a:lstStyle/>
          <a:p>
            <a:pPr marL="0" indent="0">
              <a:buNone/>
            </a:pPr>
            <a:r>
              <a:rPr lang="en-US" sz="1050" b="1" dirty="0">
                <a:solidFill>
                  <a:srgbClr val="0F172A"/>
                </a:solidFill>
                <a:latin typeface="Calibri" pitchFamily="34" charset="0"/>
                <a:ea typeface="Calibri" pitchFamily="34" charset="-122"/>
                <a:cs typeface="Calibri" pitchFamily="34" charset="-120"/>
              </a:rPr>
              <a:t>• Tren Rebound: </a:t>
            </a:r>
            <a:r>
              <a:rPr lang="en-US" sz="1050" b="1" dirty="0">
                <a:solidFill>
                  <a:srgbClr val="D97706"/>
                </a:solidFill>
                <a:latin typeface="Calibri" pitchFamily="34" charset="0"/>
                <a:ea typeface="Calibri" pitchFamily="34" charset="-122"/>
                <a:cs typeface="Calibri" pitchFamily="34" charset="-120"/>
              </a:rPr>
              <a:t>+0.39% ke +1.57% (Sep)</a:t>
            </a:r>
            <a:endParaRPr lang="en-US" sz="1050" dirty="0"/>
          </a:p>
          <a:p>
            <a:pPr marL="0" indent="0">
              <a:buNone/>
            </a:pPr>
            <a:r>
              <a:rPr lang="en-US" sz="1000" dirty="0">
                <a:solidFill>
                  <a:srgbClr val="64748B"/>
                </a:solidFill>
                <a:latin typeface="Calibri" pitchFamily="34" charset="0"/>
                <a:ea typeface="Calibri" pitchFamily="34" charset="-122"/>
                <a:cs typeface="Calibri" pitchFamily="34" charset="-120"/>
              </a:rPr>
              <a:t>• Analisis: Masa peralihan musim menekan hasil panen cabai rawit lokal, diperkuat kenaikan harga beras awal Oktober (+0.84%).</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411480"/>
            <a:ext cx="3108960" cy="292608"/>
          </a:xfrm>
          <a:prstGeom prst="roundRect">
            <a:avLst>
              <a:gd name="adj" fmla="val 25000"/>
            </a:avLst>
          </a:prstGeom>
          <a:solidFill>
            <a:srgbClr val="E0F2FE"/>
          </a:solidFill>
          <a:ln w="12700">
            <a:solidFill>
              <a:srgbClr val="BAE6FD"/>
            </a:solidFill>
            <a:prstDash val="solid"/>
          </a:ln>
        </p:spPr>
        <p:txBody>
          <a:bodyPr/>
          <a:lstStyle/>
          <a:p>
            <a:endParaRPr lang="en-US"/>
          </a:p>
        </p:txBody>
      </p:sp>
      <p:sp>
        <p:nvSpPr>
          <p:cNvPr id="3" name="Text 1"/>
          <p:cNvSpPr/>
          <p:nvPr/>
        </p:nvSpPr>
        <p:spPr>
          <a:xfrm>
            <a:off x="548640" y="411480"/>
            <a:ext cx="3108960" cy="292608"/>
          </a:xfrm>
          <a:prstGeom prst="rect">
            <a:avLst/>
          </a:prstGeom>
          <a:noFill/>
          <a:ln/>
        </p:spPr>
        <p:txBody>
          <a:bodyPr wrap="square" lIns="0" tIns="0" rIns="0" bIns="0" rtlCol="0" anchor="ctr"/>
          <a:lstStyle/>
          <a:p>
            <a:pPr marL="0" indent="0" algn="ctr">
              <a:buNone/>
            </a:pPr>
            <a:r>
              <a:rPr lang="en-US" sz="850" b="1" dirty="0">
                <a:solidFill>
                  <a:srgbClr val="0369A1"/>
                </a:solidFill>
                <a:latin typeface="Calibri" pitchFamily="34" charset="0"/>
                <a:ea typeface="Calibri" pitchFamily="34" charset="-122"/>
                <a:cs typeface="Calibri" pitchFamily="34" charset="-120"/>
              </a:rPr>
              <a:t>ANALISIS PERIODE I • HBKN</a:t>
            </a:r>
            <a:endParaRPr lang="en-US" sz="850" dirty="0"/>
          </a:p>
        </p:txBody>
      </p:sp>
      <p:sp>
        <p:nvSpPr>
          <p:cNvPr id="4" name="Text 2"/>
          <p:cNvSpPr/>
          <p:nvPr/>
        </p:nvSpPr>
        <p:spPr>
          <a:xfrm>
            <a:off x="548640" y="777240"/>
            <a:ext cx="9601200" cy="438912"/>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Maret – April 2026: Dinamika Harga Fase Ramadan &amp; Idul Fitri</a:t>
            </a:r>
            <a:endParaRPr lang="en-US" sz="2000" dirty="0"/>
          </a:p>
        </p:txBody>
      </p:sp>
      <p:sp>
        <p:nvSpPr>
          <p:cNvPr id="5" name="Text 3"/>
          <p:cNvSpPr/>
          <p:nvPr/>
        </p:nvSpPr>
        <p:spPr>
          <a:xfrm>
            <a:off x="548640" y="1234440"/>
            <a:ext cx="960120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Eskalasi Tajam Protein Hewani &amp; Telur Menjelang Hari Raya Sebelum Terjadi Koreksi Pasca HBKN</a:t>
            </a:r>
            <a:endParaRPr lang="en-US" sz="1200" dirty="0"/>
          </a:p>
        </p:txBody>
      </p:sp>
      <p:pic>
        <p:nvPicPr>
          <p:cNvPr id="6" name="Image 0" descr="/Volumes/work/_Projects/siph/assets/logos/logo_bps.png"/>
          <p:cNvPicPr>
            <a:picLocks noChangeAspect="1"/>
          </p:cNvPicPr>
          <p:nvPr/>
        </p:nvPicPr>
        <p:blipFill>
          <a:blip r:embed="rId3"/>
          <a:stretch>
            <a:fillRect/>
          </a:stretch>
        </p:blipFill>
        <p:spPr>
          <a:xfrm>
            <a:off x="10241280" y="411480"/>
            <a:ext cx="1371600" cy="466344"/>
          </a:xfrm>
          <a:prstGeom prst="rect">
            <a:avLst/>
          </a:prstGeom>
        </p:spPr>
      </p:pic>
      <p:sp>
        <p:nvSpPr>
          <p:cNvPr id="7" name="Text 4"/>
          <p:cNvSpPr/>
          <p:nvPr/>
        </p:nvSpPr>
        <p:spPr>
          <a:xfrm>
            <a:off x="548640" y="6446520"/>
            <a:ext cx="91440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Sumber: Badan Pusat Statistik &amp; SIPH Sulawesi Selatan 2026 | Evaluasi TPID Kab. Kepulauan Selayar</a:t>
            </a:r>
            <a:endParaRPr lang="en-US" sz="900" dirty="0"/>
          </a:p>
        </p:txBody>
      </p:sp>
      <p:sp>
        <p:nvSpPr>
          <p:cNvPr id="8" name="Text 5"/>
          <p:cNvSpPr/>
          <p:nvPr/>
        </p:nvSpPr>
        <p:spPr>
          <a:xfrm>
            <a:off x="10972800" y="6446520"/>
            <a:ext cx="640080" cy="274320"/>
          </a:xfrm>
          <a:prstGeom prst="rect">
            <a:avLst/>
          </a:prstGeom>
          <a:noFill/>
          <a:ln/>
        </p:spPr>
        <p:txBody>
          <a:bodyPr wrap="square" lIns="0" tIns="0" rIns="0" bIns="0" rtlCol="0" anchor="ctr"/>
          <a:lstStyle/>
          <a:p>
            <a:pPr marL="0" indent="0" algn="r">
              <a:buNone/>
            </a:pPr>
            <a:r>
              <a:rPr lang="en-US" sz="1000" b="1" dirty="0">
                <a:solidFill>
                  <a:srgbClr val="94A3B8"/>
                </a:solidFill>
                <a:latin typeface="Calibri" pitchFamily="34" charset="0"/>
                <a:ea typeface="Calibri" pitchFamily="34" charset="-122"/>
                <a:cs typeface="Calibri" pitchFamily="34" charset="-120"/>
              </a:rPr>
              <a:t>3</a:t>
            </a:r>
            <a:endParaRPr lang="en-US" sz="1000" dirty="0"/>
          </a:p>
        </p:txBody>
      </p:sp>
      <p:sp>
        <p:nvSpPr>
          <p:cNvPr id="9" name="Shape 6"/>
          <p:cNvSpPr/>
          <p:nvPr/>
        </p:nvSpPr>
        <p:spPr>
          <a:xfrm>
            <a:off x="548640" y="1691640"/>
            <a:ext cx="6217920" cy="4617720"/>
          </a:xfrm>
          <a:prstGeom prst="roundRect">
            <a:avLst>
              <a:gd name="adj" fmla="val 2376"/>
            </a:avLst>
          </a:prstGeom>
          <a:solidFill>
            <a:srgbClr val="FFFFFF"/>
          </a:solidFill>
          <a:ln w="12700">
            <a:solidFill>
              <a:srgbClr val="E2E8F0"/>
            </a:solidFill>
            <a:prstDash val="solid"/>
          </a:ln>
        </p:spPr>
        <p:txBody>
          <a:bodyPr/>
          <a:lstStyle/>
          <a:p>
            <a:endParaRPr lang="en-US"/>
          </a:p>
        </p:txBody>
      </p:sp>
      <p:pic>
        <p:nvPicPr>
          <p:cNvPr id="10" name="Image 1" descr="/Volumes/work/_Projects/siph/assets/charts/chart_slide3.png"/>
          <p:cNvPicPr>
            <a:picLocks noChangeAspect="1"/>
          </p:cNvPicPr>
          <p:nvPr/>
        </p:nvPicPr>
        <p:blipFill>
          <a:blip r:embed="rId4"/>
          <a:stretch>
            <a:fillRect/>
          </a:stretch>
        </p:blipFill>
        <p:spPr>
          <a:xfrm>
            <a:off x="685800" y="1783080"/>
            <a:ext cx="5943600" cy="4434840"/>
          </a:xfrm>
          <a:prstGeom prst="rect">
            <a:avLst/>
          </a:prstGeom>
        </p:spPr>
      </p:pic>
      <p:sp>
        <p:nvSpPr>
          <p:cNvPr id="11" name="Shape 7"/>
          <p:cNvSpPr/>
          <p:nvPr/>
        </p:nvSpPr>
        <p:spPr>
          <a:xfrm>
            <a:off x="6949440" y="1691640"/>
            <a:ext cx="4693615" cy="1417320"/>
          </a:xfrm>
          <a:prstGeom prst="roundRect">
            <a:avLst>
              <a:gd name="adj" fmla="val 6452"/>
            </a:avLst>
          </a:prstGeom>
          <a:solidFill>
            <a:srgbClr val="FFFFFF"/>
          </a:solidFill>
          <a:ln w="12700">
            <a:solidFill>
              <a:srgbClr val="FCA5A5"/>
            </a:solidFill>
            <a:prstDash val="solid"/>
          </a:ln>
        </p:spPr>
        <p:txBody>
          <a:bodyPr/>
          <a:lstStyle/>
          <a:p>
            <a:endParaRPr lang="en-US"/>
          </a:p>
        </p:txBody>
      </p:sp>
      <p:sp>
        <p:nvSpPr>
          <p:cNvPr id="12" name="Text 8"/>
          <p:cNvSpPr/>
          <p:nvPr/>
        </p:nvSpPr>
        <p:spPr>
          <a:xfrm>
            <a:off x="7178040" y="1828800"/>
            <a:ext cx="4206240" cy="228600"/>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LONJAKAN PERMINTAAN DAGING &amp; TELUR</a:t>
            </a:r>
            <a:endParaRPr lang="en-US" sz="1000" dirty="0"/>
          </a:p>
        </p:txBody>
      </p:sp>
      <p:sp>
        <p:nvSpPr>
          <p:cNvPr id="13" name="Text 9"/>
          <p:cNvSpPr/>
          <p:nvPr/>
        </p:nvSpPr>
        <p:spPr>
          <a:xfrm>
            <a:off x="7178040" y="2103120"/>
            <a:ext cx="4206240" cy="8686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Menjelang hari raya Idul Fitri 2026, permintaan protein hewani meningkat berlipat ganda. Daging Sapi mencatat andil inflasi hingga +2.17%, sementara Telur Ayam Ras menyumbang andil +1.35% akibat kebutuhan kue hari raya.</a:t>
            </a:r>
            <a:endParaRPr lang="en-US" sz="1050" dirty="0"/>
          </a:p>
        </p:txBody>
      </p:sp>
      <p:sp>
        <p:nvSpPr>
          <p:cNvPr id="14" name="Shape 10"/>
          <p:cNvSpPr/>
          <p:nvPr/>
        </p:nvSpPr>
        <p:spPr>
          <a:xfrm>
            <a:off x="6949440" y="3291840"/>
            <a:ext cx="4693615" cy="1417320"/>
          </a:xfrm>
          <a:prstGeom prst="roundRect">
            <a:avLst>
              <a:gd name="adj" fmla="val 6452"/>
            </a:avLst>
          </a:prstGeom>
          <a:solidFill>
            <a:srgbClr val="FFFFFF"/>
          </a:solidFill>
          <a:ln w="12700">
            <a:solidFill>
              <a:srgbClr val="86EFAC"/>
            </a:solidFill>
            <a:prstDash val="solid"/>
          </a:ln>
        </p:spPr>
        <p:txBody>
          <a:bodyPr/>
          <a:lstStyle/>
          <a:p>
            <a:endParaRPr lang="en-US"/>
          </a:p>
        </p:txBody>
      </p:sp>
      <p:sp>
        <p:nvSpPr>
          <p:cNvPr id="15" name="Text 11"/>
          <p:cNvSpPr/>
          <p:nvPr/>
        </p:nvSpPr>
        <p:spPr>
          <a:xfrm>
            <a:off x="7178040" y="3429000"/>
            <a:ext cx="4206240" cy="228600"/>
          </a:xfrm>
          <a:prstGeom prst="rect">
            <a:avLst/>
          </a:prstGeom>
          <a:noFill/>
          <a:ln/>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KOREKSI HARGA PASCA-HARI RAYA (APRIL W2)</a:t>
            </a:r>
            <a:endParaRPr lang="en-US" sz="1000" dirty="0"/>
          </a:p>
        </p:txBody>
      </p:sp>
      <p:sp>
        <p:nvSpPr>
          <p:cNvPr id="16" name="Text 12"/>
          <p:cNvSpPr/>
          <p:nvPr/>
        </p:nvSpPr>
        <p:spPr>
          <a:xfrm>
            <a:off x="7178040" y="3703320"/>
            <a:ext cx="4206240" cy="8686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Setelah puncak lebaran usai, konsumsi masyarakat turun drastis sementara pasokan komoditas hortikultura daratan kembali mengalir, memicu deflasi sesaat -3.29% di minggu ke-2 sebelum kembali naik di akhir bulan.</a:t>
            </a:r>
            <a:endParaRPr lang="en-US" sz="1050" dirty="0"/>
          </a:p>
        </p:txBody>
      </p:sp>
      <p:sp>
        <p:nvSpPr>
          <p:cNvPr id="17" name="Shape 13"/>
          <p:cNvSpPr/>
          <p:nvPr/>
        </p:nvSpPr>
        <p:spPr>
          <a:xfrm>
            <a:off x="6949440" y="4892040"/>
            <a:ext cx="4693615" cy="1417320"/>
          </a:xfrm>
          <a:prstGeom prst="roundRect">
            <a:avLst>
              <a:gd name="adj" fmla="val 6452"/>
            </a:avLst>
          </a:prstGeom>
          <a:solidFill>
            <a:srgbClr val="FFFFFF"/>
          </a:solidFill>
          <a:ln w="12700">
            <a:solidFill>
              <a:srgbClr val="E2E8F0"/>
            </a:solidFill>
            <a:prstDash val="solid"/>
          </a:ln>
        </p:spPr>
        <p:txBody>
          <a:bodyPr/>
          <a:lstStyle/>
          <a:p>
            <a:endParaRPr lang="en-US"/>
          </a:p>
        </p:txBody>
      </p:sp>
      <p:sp>
        <p:nvSpPr>
          <p:cNvPr id="18" name="Text 14"/>
          <p:cNvSpPr/>
          <p:nvPr/>
        </p:nvSpPr>
        <p:spPr>
          <a:xfrm>
            <a:off x="7178040" y="5029200"/>
            <a:ext cx="4206240" cy="228600"/>
          </a:xfrm>
          <a:prstGeom prst="rect">
            <a:avLst/>
          </a:prstGeom>
          <a:noFill/>
          <a:ln/>
        </p:spPr>
        <p:txBody>
          <a:bodyPr wrap="square" lIns="0" tIns="0" rIns="0" bIns="0" rtlCol="0" anchor="ctr"/>
          <a:lstStyle/>
          <a:p>
            <a:pPr marL="0" indent="0">
              <a:buNone/>
            </a:pPr>
            <a:r>
              <a:rPr lang="en-US" sz="1000" b="1" dirty="0">
                <a:solidFill>
                  <a:srgbClr val="0284C7"/>
                </a:solidFill>
                <a:latin typeface="Calibri" pitchFamily="34" charset="0"/>
                <a:ea typeface="Calibri" pitchFamily="34" charset="-122"/>
                <a:cs typeface="Calibri" pitchFamily="34" charset="-120"/>
              </a:rPr>
              <a:t>KOMODITAS KUNCI PERIODE HBKN 2026</a:t>
            </a:r>
            <a:endParaRPr lang="en-US" sz="1000" dirty="0"/>
          </a:p>
        </p:txBody>
      </p:sp>
      <p:sp>
        <p:nvSpPr>
          <p:cNvPr id="19" name="Text 15"/>
          <p:cNvSpPr/>
          <p:nvPr/>
        </p:nvSpPr>
        <p:spPr>
          <a:xfrm>
            <a:off x="7178040" y="5303520"/>
            <a:ext cx="4206240" cy="914400"/>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 Daging Sapi: </a:t>
            </a:r>
            <a:r>
              <a:rPr lang="en-US" sz="1000" dirty="0">
                <a:solidFill>
                  <a:srgbClr val="334155"/>
                </a:solidFill>
                <a:latin typeface="Calibri" pitchFamily="34" charset="0"/>
                <a:ea typeface="Calibri" pitchFamily="34" charset="-122"/>
                <a:cs typeface="Calibri" pitchFamily="34" charset="-120"/>
              </a:rPr>
              <a:t>Andil maksimal +2.17% (April W1), pasokan ternak lokal terbatas.</a:t>
            </a:r>
            <a:endParaRPr lang="en-US" sz="1000" dirty="0"/>
          </a:p>
          <a:p>
            <a:pPr marL="0" indent="0">
              <a:buNone/>
            </a:pPr>
            <a:r>
              <a:rPr lang="en-US" sz="1000" b="1" dirty="0">
                <a:solidFill>
                  <a:srgbClr val="0F172A"/>
                </a:solidFill>
                <a:latin typeface="Calibri" pitchFamily="34" charset="0"/>
                <a:ea typeface="Calibri" pitchFamily="34" charset="-122"/>
                <a:cs typeface="Calibri" pitchFamily="34" charset="-120"/>
              </a:rPr>
              <a:t>• Telur Ayam Ras: </a:t>
            </a:r>
            <a:r>
              <a:rPr lang="en-US" sz="1000" dirty="0">
                <a:solidFill>
                  <a:srgbClr val="334155"/>
                </a:solidFill>
                <a:latin typeface="Calibri" pitchFamily="34" charset="0"/>
                <a:ea typeface="Calibri" pitchFamily="34" charset="-122"/>
                <a:cs typeface="Calibri" pitchFamily="34" charset="-120"/>
              </a:rPr>
              <a:t>Andil +1.35%, ketergantungan pasokan dari sentra Sidrap/Maros.</a:t>
            </a:r>
            <a:endParaRPr lang="en-US" sz="1000" dirty="0"/>
          </a:p>
          <a:p>
            <a:pPr marL="0" indent="0">
              <a:buNone/>
            </a:pPr>
            <a:r>
              <a:rPr lang="en-US" sz="1000" b="1" dirty="0">
                <a:solidFill>
                  <a:srgbClr val="0F172A"/>
                </a:solidFill>
                <a:latin typeface="Calibri" pitchFamily="34" charset="0"/>
                <a:ea typeface="Calibri" pitchFamily="34" charset="-122"/>
                <a:cs typeface="Calibri" pitchFamily="34" charset="-120"/>
              </a:rPr>
              <a:t>• Daging Ayam Ras: </a:t>
            </a:r>
            <a:r>
              <a:rPr lang="en-US" sz="1000" dirty="0">
                <a:solidFill>
                  <a:srgbClr val="334155"/>
                </a:solidFill>
                <a:latin typeface="Calibri" pitchFamily="34" charset="0"/>
                <a:ea typeface="Calibri" pitchFamily="34" charset="-122"/>
                <a:cs typeface="Calibri" pitchFamily="34" charset="-120"/>
              </a:rPr>
              <a:t>Andil +0.92%, konsumsi pesta dan jamuan keluarga meningkat tajam.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411480"/>
            <a:ext cx="3108960" cy="292608"/>
          </a:xfrm>
          <a:prstGeom prst="roundRect">
            <a:avLst>
              <a:gd name="adj" fmla="val 25000"/>
            </a:avLst>
          </a:prstGeom>
          <a:solidFill>
            <a:srgbClr val="E0F2FE"/>
          </a:solidFill>
          <a:ln w="12700">
            <a:solidFill>
              <a:srgbClr val="BAE6FD"/>
            </a:solidFill>
            <a:prstDash val="solid"/>
          </a:ln>
        </p:spPr>
        <p:txBody>
          <a:bodyPr/>
          <a:lstStyle/>
          <a:p>
            <a:endParaRPr lang="en-US"/>
          </a:p>
        </p:txBody>
      </p:sp>
      <p:sp>
        <p:nvSpPr>
          <p:cNvPr id="3" name="Text 1"/>
          <p:cNvSpPr/>
          <p:nvPr/>
        </p:nvSpPr>
        <p:spPr>
          <a:xfrm>
            <a:off x="548640" y="411480"/>
            <a:ext cx="3108960" cy="292608"/>
          </a:xfrm>
          <a:prstGeom prst="rect">
            <a:avLst/>
          </a:prstGeom>
          <a:noFill/>
          <a:ln/>
        </p:spPr>
        <p:txBody>
          <a:bodyPr wrap="square" lIns="0" tIns="0" rIns="0" bIns="0" rtlCol="0" anchor="ctr"/>
          <a:lstStyle/>
          <a:p>
            <a:pPr marL="0" indent="0" algn="ctr">
              <a:buNone/>
            </a:pPr>
            <a:r>
              <a:rPr lang="en-US" sz="850" b="1" dirty="0">
                <a:solidFill>
                  <a:srgbClr val="0369A1"/>
                </a:solidFill>
                <a:latin typeface="Calibri" pitchFamily="34" charset="0"/>
                <a:ea typeface="Calibri" pitchFamily="34" charset="-122"/>
                <a:cs typeface="Calibri" pitchFamily="34" charset="-120"/>
              </a:rPr>
              <a:t>ANALISIS PERIODE II • PANEN RAYA</a:t>
            </a:r>
            <a:endParaRPr lang="en-US" sz="850" dirty="0"/>
          </a:p>
        </p:txBody>
      </p:sp>
      <p:sp>
        <p:nvSpPr>
          <p:cNvPr id="4" name="Text 2"/>
          <p:cNvSpPr/>
          <p:nvPr/>
        </p:nvSpPr>
        <p:spPr>
          <a:xfrm>
            <a:off x="548640" y="777240"/>
            <a:ext cx="9601200" cy="438912"/>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Mei – Juli 2026: Tren Deflasi Konsisten Pasca Panen Raya</a:t>
            </a:r>
            <a:endParaRPr lang="en-US" sz="2000" dirty="0"/>
          </a:p>
        </p:txBody>
      </p:sp>
      <p:sp>
        <p:nvSpPr>
          <p:cNvPr id="5" name="Text 3"/>
          <p:cNvSpPr/>
          <p:nvPr/>
        </p:nvSpPr>
        <p:spPr>
          <a:xfrm>
            <a:off x="548640" y="1234440"/>
            <a:ext cx="960120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IPH Bergerak Negatif Hingga Menyentuh -2.02% Didorong Melimpahnya Pasokan Sayuran &amp; Bawang</a:t>
            </a:r>
            <a:endParaRPr lang="en-US" sz="1200" dirty="0"/>
          </a:p>
        </p:txBody>
      </p:sp>
      <p:pic>
        <p:nvPicPr>
          <p:cNvPr id="6" name="Image 0" descr="/Volumes/work/_Projects/siph/assets/logos/logo_bps.png"/>
          <p:cNvPicPr>
            <a:picLocks noChangeAspect="1"/>
          </p:cNvPicPr>
          <p:nvPr/>
        </p:nvPicPr>
        <p:blipFill>
          <a:blip r:embed="rId3"/>
          <a:stretch>
            <a:fillRect/>
          </a:stretch>
        </p:blipFill>
        <p:spPr>
          <a:xfrm>
            <a:off x="10241280" y="411480"/>
            <a:ext cx="1371600" cy="466344"/>
          </a:xfrm>
          <a:prstGeom prst="rect">
            <a:avLst/>
          </a:prstGeom>
        </p:spPr>
      </p:pic>
      <p:sp>
        <p:nvSpPr>
          <p:cNvPr id="7" name="Text 4"/>
          <p:cNvSpPr/>
          <p:nvPr/>
        </p:nvSpPr>
        <p:spPr>
          <a:xfrm>
            <a:off x="548640" y="6446520"/>
            <a:ext cx="91440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Sumber: Badan Pusat Statistik &amp; SIPH Sulawesi Selatan 2026 | Evaluasi TPID Kab. Kepulauan Selayar</a:t>
            </a:r>
            <a:endParaRPr lang="en-US" sz="900" dirty="0"/>
          </a:p>
        </p:txBody>
      </p:sp>
      <p:sp>
        <p:nvSpPr>
          <p:cNvPr id="8" name="Text 5"/>
          <p:cNvSpPr/>
          <p:nvPr/>
        </p:nvSpPr>
        <p:spPr>
          <a:xfrm>
            <a:off x="10972800" y="6446520"/>
            <a:ext cx="640080" cy="274320"/>
          </a:xfrm>
          <a:prstGeom prst="rect">
            <a:avLst/>
          </a:prstGeom>
          <a:noFill/>
          <a:ln/>
        </p:spPr>
        <p:txBody>
          <a:bodyPr wrap="square" lIns="0" tIns="0" rIns="0" bIns="0" rtlCol="0" anchor="ctr"/>
          <a:lstStyle/>
          <a:p>
            <a:pPr marL="0" indent="0" algn="r">
              <a:buNone/>
            </a:pPr>
            <a:r>
              <a:rPr lang="en-US" sz="1000" b="1" dirty="0">
                <a:solidFill>
                  <a:srgbClr val="94A3B8"/>
                </a:solidFill>
                <a:latin typeface="Calibri" pitchFamily="34" charset="0"/>
                <a:ea typeface="Calibri" pitchFamily="34" charset="-122"/>
                <a:cs typeface="Calibri" pitchFamily="34" charset="-120"/>
              </a:rPr>
              <a:t>4</a:t>
            </a:r>
            <a:endParaRPr lang="en-US" sz="1000" dirty="0"/>
          </a:p>
        </p:txBody>
      </p:sp>
      <p:sp>
        <p:nvSpPr>
          <p:cNvPr id="9" name="Shape 6"/>
          <p:cNvSpPr/>
          <p:nvPr/>
        </p:nvSpPr>
        <p:spPr>
          <a:xfrm>
            <a:off x="548640" y="1691640"/>
            <a:ext cx="6217920" cy="4617720"/>
          </a:xfrm>
          <a:prstGeom prst="roundRect">
            <a:avLst>
              <a:gd name="adj" fmla="val 2376"/>
            </a:avLst>
          </a:prstGeom>
          <a:solidFill>
            <a:srgbClr val="FFFFFF"/>
          </a:solidFill>
          <a:ln w="12700">
            <a:solidFill>
              <a:srgbClr val="E2E8F0"/>
            </a:solidFill>
            <a:prstDash val="solid"/>
          </a:ln>
        </p:spPr>
        <p:txBody>
          <a:bodyPr/>
          <a:lstStyle/>
          <a:p>
            <a:endParaRPr lang="en-US"/>
          </a:p>
        </p:txBody>
      </p:sp>
      <p:pic>
        <p:nvPicPr>
          <p:cNvPr id="10" name="Image 1" descr="/Volumes/work/_Projects/siph/assets/charts/chart_slide4.png"/>
          <p:cNvPicPr>
            <a:picLocks noChangeAspect="1"/>
          </p:cNvPicPr>
          <p:nvPr/>
        </p:nvPicPr>
        <p:blipFill>
          <a:blip r:embed="rId4"/>
          <a:stretch>
            <a:fillRect/>
          </a:stretch>
        </p:blipFill>
        <p:spPr>
          <a:xfrm>
            <a:off x="685800" y="1783080"/>
            <a:ext cx="5943600" cy="4434840"/>
          </a:xfrm>
          <a:prstGeom prst="rect">
            <a:avLst/>
          </a:prstGeom>
        </p:spPr>
      </p:pic>
      <p:sp>
        <p:nvSpPr>
          <p:cNvPr id="11" name="Shape 7"/>
          <p:cNvSpPr/>
          <p:nvPr/>
        </p:nvSpPr>
        <p:spPr>
          <a:xfrm>
            <a:off x="6949440" y="1691640"/>
            <a:ext cx="4693615" cy="1417320"/>
          </a:xfrm>
          <a:prstGeom prst="roundRect">
            <a:avLst>
              <a:gd name="adj" fmla="val 6452"/>
            </a:avLst>
          </a:prstGeom>
          <a:solidFill>
            <a:srgbClr val="FFFFFF"/>
          </a:solidFill>
          <a:ln w="12700">
            <a:solidFill>
              <a:srgbClr val="86EFAC"/>
            </a:solidFill>
            <a:prstDash val="solid"/>
          </a:ln>
        </p:spPr>
        <p:txBody>
          <a:bodyPr/>
          <a:lstStyle/>
          <a:p>
            <a:endParaRPr lang="en-US"/>
          </a:p>
        </p:txBody>
      </p:sp>
      <p:sp>
        <p:nvSpPr>
          <p:cNvPr id="12" name="Text 8"/>
          <p:cNvSpPr/>
          <p:nvPr/>
        </p:nvSpPr>
        <p:spPr>
          <a:xfrm>
            <a:off x="7178040" y="1828800"/>
            <a:ext cx="4206240" cy="228600"/>
          </a:xfrm>
          <a:prstGeom prst="rect">
            <a:avLst/>
          </a:prstGeom>
          <a:noFill/>
          <a:ln/>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PASOKAN PANEN HORTIKULTURA MELIMPAH</a:t>
            </a:r>
            <a:endParaRPr lang="en-US" sz="1000" dirty="0"/>
          </a:p>
        </p:txBody>
      </p:sp>
      <p:sp>
        <p:nvSpPr>
          <p:cNvPr id="13" name="Text 9"/>
          <p:cNvSpPr/>
          <p:nvPr/>
        </p:nvSpPr>
        <p:spPr>
          <a:xfrm>
            <a:off x="7178040" y="2103120"/>
            <a:ext cx="4206240" cy="8686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Sepanjang Juli 2026, produksi cabai dan bawang merah di sentra daratan Sulsel (Enrekang, Jeneponto, Bantaeng) melimpah. Pasokan masuk lancar ke Selayar melalui pelabuhan feri Bira - Pamatata dengan volume besar.</a:t>
            </a:r>
            <a:endParaRPr lang="en-US" sz="1050" dirty="0"/>
          </a:p>
        </p:txBody>
      </p:sp>
      <p:sp>
        <p:nvSpPr>
          <p:cNvPr id="14" name="Shape 10"/>
          <p:cNvSpPr/>
          <p:nvPr/>
        </p:nvSpPr>
        <p:spPr>
          <a:xfrm>
            <a:off x="6949440" y="3291840"/>
            <a:ext cx="4693615" cy="1417320"/>
          </a:xfrm>
          <a:prstGeom prst="roundRect">
            <a:avLst>
              <a:gd name="adj" fmla="val 6452"/>
            </a:avLst>
          </a:prstGeom>
          <a:solidFill>
            <a:srgbClr val="FFFFFF"/>
          </a:solidFill>
          <a:ln w="12700">
            <a:solidFill>
              <a:srgbClr val="E2E8F0"/>
            </a:solidFill>
            <a:prstDash val="solid"/>
          </a:ln>
        </p:spPr>
        <p:txBody>
          <a:bodyPr/>
          <a:lstStyle/>
          <a:p>
            <a:endParaRPr lang="en-US"/>
          </a:p>
        </p:txBody>
      </p:sp>
      <p:sp>
        <p:nvSpPr>
          <p:cNvPr id="15" name="Text 11"/>
          <p:cNvSpPr/>
          <p:nvPr/>
        </p:nvSpPr>
        <p:spPr>
          <a:xfrm>
            <a:off x="7178040" y="3429000"/>
            <a:ext cx="4206240" cy="228600"/>
          </a:xfrm>
          <a:prstGeom prst="rect">
            <a:avLst/>
          </a:prstGeom>
          <a:noFill/>
          <a:ln/>
        </p:spPr>
        <p:txBody>
          <a:bodyPr wrap="square" lIns="0" tIns="0" rIns="0" bIns="0" rtlCol="0" anchor="ctr"/>
          <a:lstStyle/>
          <a:p>
            <a:pPr marL="0" indent="0">
              <a:buNone/>
            </a:pPr>
            <a:r>
              <a:rPr lang="en-US" sz="1000" b="1" dirty="0">
                <a:solidFill>
                  <a:srgbClr val="0284C7"/>
                </a:solidFill>
                <a:latin typeface="Calibri" pitchFamily="34" charset="0"/>
                <a:ea typeface="Calibri" pitchFamily="34" charset="-122"/>
                <a:cs typeface="Calibri" pitchFamily="34" charset="-120"/>
              </a:rPr>
              <a:t>5 MINGGU DEFLASI BERUNTUN DI JULI 2026</a:t>
            </a:r>
            <a:endParaRPr lang="en-US" sz="1000" dirty="0"/>
          </a:p>
        </p:txBody>
      </p:sp>
      <p:sp>
        <p:nvSpPr>
          <p:cNvPr id="16" name="Text 12"/>
          <p:cNvSpPr/>
          <p:nvPr/>
        </p:nvSpPr>
        <p:spPr>
          <a:xfrm>
            <a:off x="7178040" y="3703320"/>
            <a:ext cx="4206240" cy="8686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Bulan Juli mencatat deflasi mingguan berurutan: M1 (-1.31%), M2 (-1.62%), M3 (-1.82%), M4 (-1.97%), dan M5 (-2.02%). Kondisi ini memberikan bantalan daya beli yang kuat bagi rumah tangga di Kepulauan Selayar.</a:t>
            </a:r>
            <a:endParaRPr lang="en-US" sz="1050" dirty="0"/>
          </a:p>
        </p:txBody>
      </p:sp>
      <p:sp>
        <p:nvSpPr>
          <p:cNvPr id="17" name="Shape 13"/>
          <p:cNvSpPr/>
          <p:nvPr/>
        </p:nvSpPr>
        <p:spPr>
          <a:xfrm>
            <a:off x="6949440" y="4892040"/>
            <a:ext cx="4693615" cy="1417320"/>
          </a:xfrm>
          <a:prstGeom prst="roundRect">
            <a:avLst>
              <a:gd name="adj" fmla="val 6452"/>
            </a:avLst>
          </a:prstGeom>
          <a:solidFill>
            <a:srgbClr val="FFFFFF"/>
          </a:solidFill>
          <a:ln w="12700">
            <a:solidFill>
              <a:srgbClr val="86EFAC"/>
            </a:solidFill>
            <a:prstDash val="solid"/>
          </a:ln>
        </p:spPr>
        <p:txBody>
          <a:bodyPr/>
          <a:lstStyle/>
          <a:p>
            <a:endParaRPr lang="en-US"/>
          </a:p>
        </p:txBody>
      </p:sp>
      <p:sp>
        <p:nvSpPr>
          <p:cNvPr id="18" name="Text 14"/>
          <p:cNvSpPr/>
          <p:nvPr/>
        </p:nvSpPr>
        <p:spPr>
          <a:xfrm>
            <a:off x="7178040" y="5029200"/>
            <a:ext cx="4206240" cy="228600"/>
          </a:xfrm>
          <a:prstGeom prst="rect">
            <a:avLst/>
          </a:prstGeom>
          <a:noFill/>
          <a:ln/>
        </p:spPr>
        <p:txBody>
          <a:bodyPr wrap="square" lIns="0" tIns="0" rIns="0" bIns="0" rtlCol="0" anchor="ctr"/>
          <a:lstStyle/>
          <a:p>
            <a:pPr marL="0" indent="0">
              <a:buNone/>
            </a:pPr>
            <a:r>
              <a:rPr lang="en-US" sz="1000" b="1" dirty="0">
                <a:solidFill>
                  <a:srgbClr val="16A34A"/>
                </a:solidFill>
                <a:latin typeface="Calibri" pitchFamily="34" charset="0"/>
                <a:ea typeface="Calibri" pitchFamily="34" charset="-122"/>
                <a:cs typeface="Calibri" pitchFamily="34" charset="-120"/>
              </a:rPr>
              <a:t>KOMODITAS PENYUMBANG DEFLASI UTAMA</a:t>
            </a:r>
            <a:endParaRPr lang="en-US" sz="1000" dirty="0"/>
          </a:p>
        </p:txBody>
      </p:sp>
      <p:sp>
        <p:nvSpPr>
          <p:cNvPr id="19" name="Text 15"/>
          <p:cNvSpPr/>
          <p:nvPr/>
        </p:nvSpPr>
        <p:spPr>
          <a:xfrm>
            <a:off x="7178040" y="5303520"/>
            <a:ext cx="4206240" cy="914400"/>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 Cabai Rawit: </a:t>
            </a:r>
            <a:r>
              <a:rPr lang="en-US" sz="1000" dirty="0">
                <a:solidFill>
                  <a:srgbClr val="334155"/>
                </a:solidFill>
                <a:latin typeface="Calibri" pitchFamily="34" charset="0"/>
                <a:ea typeface="Calibri" pitchFamily="34" charset="-122"/>
                <a:cs typeface="Calibri" pitchFamily="34" charset="-120"/>
              </a:rPr>
              <a:t>Andil deflasi terdalam (-0.64%), harga eceran anjlok di pasar induk.</a:t>
            </a:r>
            <a:endParaRPr lang="en-US" sz="1000" dirty="0"/>
          </a:p>
          <a:p>
            <a:pPr marL="0" indent="0">
              <a:buNone/>
            </a:pPr>
            <a:r>
              <a:rPr lang="en-US" sz="1000" b="1" dirty="0">
                <a:solidFill>
                  <a:srgbClr val="0F172A"/>
                </a:solidFill>
                <a:latin typeface="Calibri" pitchFamily="34" charset="0"/>
                <a:ea typeface="Calibri" pitchFamily="34" charset="-122"/>
                <a:cs typeface="Calibri" pitchFamily="34" charset="-120"/>
              </a:rPr>
              <a:t>• Daging Ayam Ras: </a:t>
            </a:r>
            <a:r>
              <a:rPr lang="en-US" sz="1000" dirty="0">
                <a:solidFill>
                  <a:srgbClr val="334155"/>
                </a:solidFill>
                <a:latin typeface="Calibri" pitchFamily="34" charset="0"/>
                <a:ea typeface="Calibri" pitchFamily="34" charset="-122"/>
                <a:cs typeface="Calibri" pitchFamily="34" charset="-120"/>
              </a:rPr>
              <a:t>Andil deflasi (-0.61%), pasokan karkas melimpah pasca HBKN.</a:t>
            </a:r>
            <a:endParaRPr lang="en-US" sz="1000" dirty="0"/>
          </a:p>
          <a:p>
            <a:pPr marL="0" indent="0">
              <a:buNone/>
            </a:pPr>
            <a:r>
              <a:rPr lang="en-US" sz="1000" b="1" dirty="0">
                <a:solidFill>
                  <a:srgbClr val="0F172A"/>
                </a:solidFill>
                <a:latin typeface="Calibri" pitchFamily="34" charset="0"/>
                <a:ea typeface="Calibri" pitchFamily="34" charset="-122"/>
                <a:cs typeface="Calibri" pitchFamily="34" charset="-120"/>
              </a:rPr>
              <a:t>• Bawang Merah: </a:t>
            </a:r>
            <a:r>
              <a:rPr lang="en-US" sz="1000" dirty="0">
                <a:solidFill>
                  <a:srgbClr val="334155"/>
                </a:solidFill>
                <a:latin typeface="Calibri" pitchFamily="34" charset="0"/>
                <a:ea typeface="Calibri" pitchFamily="34" charset="-122"/>
                <a:cs typeface="Calibri" pitchFamily="34" charset="-120"/>
              </a:rPr>
              <a:t>Andil deflasi (-0.42%), suplai daratan Sulawesi sangat stabil.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411480"/>
            <a:ext cx="3108960" cy="292608"/>
          </a:xfrm>
          <a:prstGeom prst="roundRect">
            <a:avLst>
              <a:gd name="adj" fmla="val 25000"/>
            </a:avLst>
          </a:prstGeom>
          <a:solidFill>
            <a:srgbClr val="E0F2FE"/>
          </a:solidFill>
          <a:ln w="12700">
            <a:solidFill>
              <a:srgbClr val="BAE6FD"/>
            </a:solidFill>
            <a:prstDash val="solid"/>
          </a:ln>
        </p:spPr>
        <p:txBody>
          <a:bodyPr/>
          <a:lstStyle/>
          <a:p>
            <a:endParaRPr lang="en-US"/>
          </a:p>
        </p:txBody>
      </p:sp>
      <p:sp>
        <p:nvSpPr>
          <p:cNvPr id="3" name="Text 1"/>
          <p:cNvSpPr/>
          <p:nvPr/>
        </p:nvSpPr>
        <p:spPr>
          <a:xfrm>
            <a:off x="548640" y="411480"/>
            <a:ext cx="3108960" cy="292608"/>
          </a:xfrm>
          <a:prstGeom prst="rect">
            <a:avLst/>
          </a:prstGeom>
          <a:noFill/>
          <a:ln/>
        </p:spPr>
        <p:txBody>
          <a:bodyPr wrap="square" lIns="0" tIns="0" rIns="0" bIns="0" rtlCol="0" anchor="ctr"/>
          <a:lstStyle/>
          <a:p>
            <a:pPr marL="0" indent="0" algn="ctr">
              <a:buNone/>
            </a:pPr>
            <a:r>
              <a:rPr lang="en-US" sz="850" b="1" dirty="0">
                <a:solidFill>
                  <a:srgbClr val="0369A1"/>
                </a:solidFill>
                <a:latin typeface="Calibri" pitchFamily="34" charset="0"/>
                <a:ea typeface="Calibri" pitchFamily="34" charset="-122"/>
                <a:cs typeface="Calibri" pitchFamily="34" charset="-120"/>
              </a:rPr>
              <a:t>ANALISIS PERIODE III • MUSIM PERALIHAN</a:t>
            </a:r>
            <a:endParaRPr lang="en-US" sz="850" dirty="0"/>
          </a:p>
        </p:txBody>
      </p:sp>
      <p:sp>
        <p:nvSpPr>
          <p:cNvPr id="4" name="Text 2"/>
          <p:cNvSpPr/>
          <p:nvPr/>
        </p:nvSpPr>
        <p:spPr>
          <a:xfrm>
            <a:off x="548640" y="777240"/>
            <a:ext cx="9601200" cy="438912"/>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September – Oktober 2026: Rebound Inflasi Komoditas Pangan</a:t>
            </a:r>
            <a:endParaRPr lang="en-US" sz="2000" dirty="0"/>
          </a:p>
        </p:txBody>
      </p:sp>
      <p:sp>
        <p:nvSpPr>
          <p:cNvPr id="5" name="Text 3"/>
          <p:cNvSpPr/>
          <p:nvPr/>
        </p:nvSpPr>
        <p:spPr>
          <a:xfrm>
            <a:off x="548640" y="1234440"/>
            <a:ext cx="960120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IPH Kembali Merangkak Positif Dipicu Lonjakan Cabai Rawit &amp; Kenaikan Bertahap Harga Beras</a:t>
            </a:r>
            <a:endParaRPr lang="en-US" sz="1200" dirty="0"/>
          </a:p>
        </p:txBody>
      </p:sp>
      <p:pic>
        <p:nvPicPr>
          <p:cNvPr id="6" name="Image 0" descr="/Volumes/work/_Projects/siph/assets/logos/logo_bps.png"/>
          <p:cNvPicPr>
            <a:picLocks noChangeAspect="1"/>
          </p:cNvPicPr>
          <p:nvPr/>
        </p:nvPicPr>
        <p:blipFill>
          <a:blip r:embed="rId3"/>
          <a:stretch>
            <a:fillRect/>
          </a:stretch>
        </p:blipFill>
        <p:spPr>
          <a:xfrm>
            <a:off x="10241280" y="411480"/>
            <a:ext cx="1371600" cy="466344"/>
          </a:xfrm>
          <a:prstGeom prst="rect">
            <a:avLst/>
          </a:prstGeom>
        </p:spPr>
      </p:pic>
      <p:sp>
        <p:nvSpPr>
          <p:cNvPr id="7" name="Text 4"/>
          <p:cNvSpPr/>
          <p:nvPr/>
        </p:nvSpPr>
        <p:spPr>
          <a:xfrm>
            <a:off x="548640" y="6446520"/>
            <a:ext cx="91440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Sumber: Badan Pusat Statistik &amp; SIPH Sulawesi Selatan 2026 | Evaluasi TPID Kab. Kepulauan Selayar</a:t>
            </a:r>
            <a:endParaRPr lang="en-US" sz="900" dirty="0"/>
          </a:p>
        </p:txBody>
      </p:sp>
      <p:sp>
        <p:nvSpPr>
          <p:cNvPr id="8" name="Text 5"/>
          <p:cNvSpPr/>
          <p:nvPr/>
        </p:nvSpPr>
        <p:spPr>
          <a:xfrm>
            <a:off x="10972800" y="6446520"/>
            <a:ext cx="640080" cy="274320"/>
          </a:xfrm>
          <a:prstGeom prst="rect">
            <a:avLst/>
          </a:prstGeom>
          <a:noFill/>
          <a:ln/>
        </p:spPr>
        <p:txBody>
          <a:bodyPr wrap="square" lIns="0" tIns="0" rIns="0" bIns="0" rtlCol="0" anchor="ctr"/>
          <a:lstStyle/>
          <a:p>
            <a:pPr marL="0" indent="0" algn="r">
              <a:buNone/>
            </a:pPr>
            <a:r>
              <a:rPr lang="en-US" sz="1000" b="1" dirty="0">
                <a:solidFill>
                  <a:srgbClr val="94A3B8"/>
                </a:solidFill>
                <a:latin typeface="Calibri" pitchFamily="34" charset="0"/>
                <a:ea typeface="Calibri" pitchFamily="34" charset="-122"/>
                <a:cs typeface="Calibri" pitchFamily="34" charset="-120"/>
              </a:rPr>
              <a:t>5</a:t>
            </a:r>
            <a:endParaRPr lang="en-US" sz="1000" dirty="0"/>
          </a:p>
        </p:txBody>
      </p:sp>
      <p:sp>
        <p:nvSpPr>
          <p:cNvPr id="9" name="Shape 6"/>
          <p:cNvSpPr/>
          <p:nvPr/>
        </p:nvSpPr>
        <p:spPr>
          <a:xfrm>
            <a:off x="548640" y="1691640"/>
            <a:ext cx="6217920" cy="4617720"/>
          </a:xfrm>
          <a:prstGeom prst="roundRect">
            <a:avLst>
              <a:gd name="adj" fmla="val 2376"/>
            </a:avLst>
          </a:prstGeom>
          <a:solidFill>
            <a:srgbClr val="FFFFFF"/>
          </a:solidFill>
          <a:ln w="12700">
            <a:solidFill>
              <a:srgbClr val="E2E8F0"/>
            </a:solidFill>
            <a:prstDash val="solid"/>
          </a:ln>
        </p:spPr>
        <p:txBody>
          <a:bodyPr/>
          <a:lstStyle/>
          <a:p>
            <a:endParaRPr lang="en-US"/>
          </a:p>
        </p:txBody>
      </p:sp>
      <p:pic>
        <p:nvPicPr>
          <p:cNvPr id="10" name="Image 1" descr="/Volumes/work/_Projects/siph/assets/charts/chart_slide5.png"/>
          <p:cNvPicPr>
            <a:picLocks noChangeAspect="1"/>
          </p:cNvPicPr>
          <p:nvPr/>
        </p:nvPicPr>
        <p:blipFill>
          <a:blip r:embed="rId4"/>
          <a:stretch>
            <a:fillRect/>
          </a:stretch>
        </p:blipFill>
        <p:spPr>
          <a:xfrm>
            <a:off x="685800" y="1783080"/>
            <a:ext cx="5943600" cy="4434840"/>
          </a:xfrm>
          <a:prstGeom prst="rect">
            <a:avLst/>
          </a:prstGeom>
        </p:spPr>
      </p:pic>
      <p:sp>
        <p:nvSpPr>
          <p:cNvPr id="11" name="Shape 7"/>
          <p:cNvSpPr/>
          <p:nvPr/>
        </p:nvSpPr>
        <p:spPr>
          <a:xfrm>
            <a:off x="6949440" y="1691640"/>
            <a:ext cx="4693615" cy="1417320"/>
          </a:xfrm>
          <a:prstGeom prst="roundRect">
            <a:avLst>
              <a:gd name="adj" fmla="val 6452"/>
            </a:avLst>
          </a:prstGeom>
          <a:solidFill>
            <a:srgbClr val="FFFFFF"/>
          </a:solidFill>
          <a:ln w="12700">
            <a:solidFill>
              <a:srgbClr val="FDE68A"/>
            </a:solidFill>
            <a:prstDash val="solid"/>
          </a:ln>
        </p:spPr>
        <p:txBody>
          <a:bodyPr/>
          <a:lstStyle/>
          <a:p>
            <a:endParaRPr lang="en-US"/>
          </a:p>
        </p:txBody>
      </p:sp>
      <p:sp>
        <p:nvSpPr>
          <p:cNvPr id="12" name="Text 8"/>
          <p:cNvSpPr/>
          <p:nvPr/>
        </p:nvSpPr>
        <p:spPr>
          <a:xfrm>
            <a:off x="7178040" y="1828800"/>
            <a:ext cx="4206240" cy="228600"/>
          </a:xfrm>
          <a:prstGeom prst="rect">
            <a:avLst/>
          </a:prstGeom>
          <a:noFill/>
          <a:ln/>
        </p:spPr>
        <p:txBody>
          <a:bodyPr wrap="square" lIns="0" tIns="0" rIns="0" bIns="0" rtlCol="0" anchor="ctr"/>
          <a:lstStyle/>
          <a:p>
            <a:pPr marL="0" indent="0">
              <a:buNone/>
            </a:pPr>
            <a:r>
              <a:rPr lang="en-US" sz="1000" b="1" dirty="0">
                <a:solidFill>
                  <a:srgbClr val="D97706"/>
                </a:solidFill>
                <a:latin typeface="Calibri" pitchFamily="34" charset="0"/>
                <a:ea typeface="Calibri" pitchFamily="34" charset="-122"/>
                <a:cs typeface="Calibri" pitchFamily="34" charset="-120"/>
              </a:rPr>
              <a:t>PERALIHAN MUSIM &amp; PENURUNAN PANEN HORTIKULTURA</a:t>
            </a:r>
            <a:endParaRPr lang="en-US" sz="1000" dirty="0"/>
          </a:p>
        </p:txBody>
      </p:sp>
      <p:sp>
        <p:nvSpPr>
          <p:cNvPr id="13" name="Text 9"/>
          <p:cNvSpPr/>
          <p:nvPr/>
        </p:nvSpPr>
        <p:spPr>
          <a:xfrm>
            <a:off x="7178040" y="2103120"/>
            <a:ext cx="4206240" cy="8686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Memasuki akhir kuartal III 2026, produksi cabai lokal di Selayar mulai menurun seiring perubahan cuaca. Berkurangnya pasokan menyebabkan harga cabai rawit dan cabai merah melonjak cepat di pasar Bonea dan pasar tradisional.</a:t>
            </a:r>
            <a:endParaRPr lang="en-US" sz="1050" dirty="0"/>
          </a:p>
        </p:txBody>
      </p:sp>
      <p:sp>
        <p:nvSpPr>
          <p:cNvPr id="14" name="Shape 10"/>
          <p:cNvSpPr/>
          <p:nvPr/>
        </p:nvSpPr>
        <p:spPr>
          <a:xfrm>
            <a:off x="6949440" y="3291840"/>
            <a:ext cx="4693615" cy="1417320"/>
          </a:xfrm>
          <a:prstGeom prst="roundRect">
            <a:avLst>
              <a:gd name="adj" fmla="val 6452"/>
            </a:avLst>
          </a:prstGeom>
          <a:solidFill>
            <a:srgbClr val="FFFFFF"/>
          </a:solidFill>
          <a:ln w="12700">
            <a:solidFill>
              <a:srgbClr val="FCA5A5"/>
            </a:solidFill>
            <a:prstDash val="solid"/>
          </a:ln>
        </p:spPr>
        <p:txBody>
          <a:bodyPr/>
          <a:lstStyle/>
          <a:p>
            <a:endParaRPr lang="en-US"/>
          </a:p>
        </p:txBody>
      </p:sp>
      <p:sp>
        <p:nvSpPr>
          <p:cNvPr id="15" name="Text 11"/>
          <p:cNvSpPr/>
          <p:nvPr/>
        </p:nvSpPr>
        <p:spPr>
          <a:xfrm>
            <a:off x="7178040" y="3429000"/>
            <a:ext cx="4206240" cy="228600"/>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TEKANAN BERAS DI AWAL OKTOBER 2026</a:t>
            </a:r>
            <a:endParaRPr lang="en-US" sz="1000" dirty="0"/>
          </a:p>
        </p:txBody>
      </p:sp>
      <p:sp>
        <p:nvSpPr>
          <p:cNvPr id="16" name="Text 12"/>
          <p:cNvSpPr/>
          <p:nvPr/>
        </p:nvSpPr>
        <p:spPr>
          <a:xfrm>
            <a:off x="7178040" y="3703320"/>
            <a:ext cx="4206240" cy="8686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Pada minggu ke-1 Oktober 2026, IPH berada di level +0.84% dengan Beras sebagai komoditas bergejolak utama. Pergerakan harga gabah daratan mulai menekan harga eceran beras medium di Kepulauan Selayar.</a:t>
            </a:r>
            <a:endParaRPr lang="en-US" sz="1050" dirty="0"/>
          </a:p>
        </p:txBody>
      </p:sp>
      <p:sp>
        <p:nvSpPr>
          <p:cNvPr id="17" name="Shape 13"/>
          <p:cNvSpPr/>
          <p:nvPr/>
        </p:nvSpPr>
        <p:spPr>
          <a:xfrm>
            <a:off x="6949440" y="4892040"/>
            <a:ext cx="4693615" cy="1417320"/>
          </a:xfrm>
          <a:prstGeom prst="roundRect">
            <a:avLst>
              <a:gd name="adj" fmla="val 6452"/>
            </a:avLst>
          </a:prstGeom>
          <a:solidFill>
            <a:srgbClr val="FFFFFF"/>
          </a:solidFill>
          <a:ln w="12700">
            <a:solidFill>
              <a:srgbClr val="E2E8F0"/>
            </a:solidFill>
            <a:prstDash val="solid"/>
          </a:ln>
        </p:spPr>
        <p:txBody>
          <a:bodyPr/>
          <a:lstStyle/>
          <a:p>
            <a:endParaRPr lang="en-US"/>
          </a:p>
        </p:txBody>
      </p:sp>
      <p:sp>
        <p:nvSpPr>
          <p:cNvPr id="18" name="Text 14"/>
          <p:cNvSpPr/>
          <p:nvPr/>
        </p:nvSpPr>
        <p:spPr>
          <a:xfrm>
            <a:off x="7178040" y="5029200"/>
            <a:ext cx="4206240" cy="228600"/>
          </a:xfrm>
          <a:prstGeom prst="rect">
            <a:avLst/>
          </a:prstGeom>
          <a:noFill/>
          <a:ln/>
        </p:spPr>
        <p:txBody>
          <a:bodyPr wrap="square" lIns="0" tIns="0" rIns="0" bIns="0" rtlCol="0" anchor="ctr"/>
          <a:lstStyle/>
          <a:p>
            <a:pPr marL="0" indent="0">
              <a:buNone/>
            </a:pPr>
            <a:r>
              <a:rPr lang="en-US" sz="1000" b="1" dirty="0">
                <a:solidFill>
                  <a:srgbClr val="0284C7"/>
                </a:solidFill>
                <a:latin typeface="Calibri" pitchFamily="34" charset="0"/>
                <a:ea typeface="Calibri" pitchFamily="34" charset="-122"/>
                <a:cs typeface="Calibri" pitchFamily="34" charset="-120"/>
              </a:rPr>
              <a:t>KOMODITAS PENYUMBANG KENAIKAN AKHIR Q3</a:t>
            </a:r>
            <a:endParaRPr lang="en-US" sz="1000" dirty="0"/>
          </a:p>
        </p:txBody>
      </p:sp>
      <p:sp>
        <p:nvSpPr>
          <p:cNvPr id="19" name="Text 15"/>
          <p:cNvSpPr/>
          <p:nvPr/>
        </p:nvSpPr>
        <p:spPr>
          <a:xfrm>
            <a:off x="7178040" y="5303520"/>
            <a:ext cx="4206240" cy="914400"/>
          </a:xfrm>
          <a:prstGeom prst="rect">
            <a:avLst/>
          </a:prstGeom>
          <a:noFill/>
          <a:ln/>
        </p:spPr>
        <p:txBody>
          <a:bodyPr wrap="square" lIns="0" tIns="0" rIns="0" bIns="0" rtlCol="0" anchor="ctr"/>
          <a:lstStyle/>
          <a:p>
            <a:pPr marL="0" indent="0">
              <a:buNone/>
            </a:pPr>
            <a:r>
              <a:rPr lang="en-US" sz="1000" b="1" dirty="0">
                <a:solidFill>
                  <a:srgbClr val="0F172A"/>
                </a:solidFill>
                <a:latin typeface="Calibri" pitchFamily="34" charset="0"/>
                <a:ea typeface="Calibri" pitchFamily="34" charset="-122"/>
                <a:cs typeface="Calibri" pitchFamily="34" charset="-120"/>
              </a:rPr>
              <a:t>• Cabai Rawit: </a:t>
            </a:r>
            <a:r>
              <a:rPr lang="en-US" sz="1000" dirty="0">
                <a:solidFill>
                  <a:srgbClr val="334155"/>
                </a:solidFill>
                <a:latin typeface="Calibri" pitchFamily="34" charset="0"/>
                <a:ea typeface="Calibri" pitchFamily="34" charset="-122"/>
                <a:cs typeface="Calibri" pitchFamily="34" charset="-120"/>
              </a:rPr>
              <a:t>Andil inflasi hingga +1.13% (September W4), fluktuasi tertinggi.</a:t>
            </a:r>
            <a:endParaRPr lang="en-US" sz="1000" dirty="0"/>
          </a:p>
          <a:p>
            <a:pPr marL="0" indent="0">
              <a:buNone/>
            </a:pPr>
            <a:r>
              <a:rPr lang="en-US" sz="1000" b="1" dirty="0">
                <a:solidFill>
                  <a:srgbClr val="0F172A"/>
                </a:solidFill>
                <a:latin typeface="Calibri" pitchFamily="34" charset="0"/>
                <a:ea typeface="Calibri" pitchFamily="34" charset="-122"/>
                <a:cs typeface="Calibri" pitchFamily="34" charset="-120"/>
              </a:rPr>
              <a:t>• Cabai Merah: </a:t>
            </a:r>
            <a:r>
              <a:rPr lang="en-US" sz="1000" dirty="0">
                <a:solidFill>
                  <a:srgbClr val="334155"/>
                </a:solidFill>
                <a:latin typeface="Calibri" pitchFamily="34" charset="0"/>
                <a:ea typeface="Calibri" pitchFamily="34" charset="-122"/>
                <a:cs typeface="Calibri" pitchFamily="34" charset="-120"/>
              </a:rPr>
              <a:t>Andil +0.62%, permintaan stabil namun suplai menipis.</a:t>
            </a:r>
            <a:endParaRPr lang="en-US" sz="1000" dirty="0"/>
          </a:p>
          <a:p>
            <a:pPr marL="0" indent="0">
              <a:buNone/>
            </a:pPr>
            <a:r>
              <a:rPr lang="en-US" sz="1000" b="1" dirty="0">
                <a:solidFill>
                  <a:srgbClr val="0F172A"/>
                </a:solidFill>
                <a:latin typeface="Calibri" pitchFamily="34" charset="0"/>
                <a:ea typeface="Calibri" pitchFamily="34" charset="-122"/>
                <a:cs typeface="Calibri" pitchFamily="34" charset="-120"/>
              </a:rPr>
              <a:t>• Beras: </a:t>
            </a:r>
            <a:r>
              <a:rPr lang="en-US" sz="1000" dirty="0">
                <a:solidFill>
                  <a:srgbClr val="334155"/>
                </a:solidFill>
                <a:latin typeface="Calibri" pitchFamily="34" charset="0"/>
                <a:ea typeface="Calibri" pitchFamily="34" charset="-122"/>
                <a:cs typeface="Calibri" pitchFamily="34" charset="-120"/>
              </a:rPr>
              <a:t>Andil +0.53%, menjadi pemicu utama kenaikan awal Oktober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411480"/>
            <a:ext cx="3108960" cy="292608"/>
          </a:xfrm>
          <a:prstGeom prst="roundRect">
            <a:avLst>
              <a:gd name="adj" fmla="val 25000"/>
            </a:avLst>
          </a:prstGeom>
          <a:solidFill>
            <a:srgbClr val="E0F2FE"/>
          </a:solidFill>
          <a:ln w="12700">
            <a:solidFill>
              <a:srgbClr val="BAE6FD"/>
            </a:solidFill>
            <a:prstDash val="solid"/>
          </a:ln>
        </p:spPr>
        <p:txBody>
          <a:bodyPr/>
          <a:lstStyle/>
          <a:p>
            <a:endParaRPr lang="en-US"/>
          </a:p>
        </p:txBody>
      </p:sp>
      <p:sp>
        <p:nvSpPr>
          <p:cNvPr id="3" name="Text 1"/>
          <p:cNvSpPr/>
          <p:nvPr/>
        </p:nvSpPr>
        <p:spPr>
          <a:xfrm>
            <a:off x="548640" y="411480"/>
            <a:ext cx="3108960" cy="292608"/>
          </a:xfrm>
          <a:prstGeom prst="rect">
            <a:avLst/>
          </a:prstGeom>
          <a:noFill/>
          <a:ln/>
        </p:spPr>
        <p:txBody>
          <a:bodyPr wrap="square" lIns="0" tIns="0" rIns="0" bIns="0" rtlCol="0" anchor="ctr"/>
          <a:lstStyle/>
          <a:p>
            <a:pPr marL="0" indent="0" algn="ctr">
              <a:buNone/>
            </a:pPr>
            <a:r>
              <a:rPr lang="en-US" sz="850" b="1" dirty="0">
                <a:solidFill>
                  <a:srgbClr val="0369A1"/>
                </a:solidFill>
                <a:latin typeface="Calibri" pitchFamily="34" charset="0"/>
                <a:ea typeface="Calibri" pitchFamily="34" charset="-122"/>
                <a:cs typeface="Calibri" pitchFamily="34" charset="-120"/>
              </a:rPr>
              <a:t>ANALISIS KOMODITAS 2026</a:t>
            </a:r>
            <a:endParaRPr lang="en-US" sz="850" dirty="0"/>
          </a:p>
        </p:txBody>
      </p:sp>
      <p:sp>
        <p:nvSpPr>
          <p:cNvPr id="4" name="Text 2"/>
          <p:cNvSpPr/>
          <p:nvPr/>
        </p:nvSpPr>
        <p:spPr>
          <a:xfrm>
            <a:off x="548640" y="777240"/>
            <a:ext cx="9601200" cy="438912"/>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Profil Komoditas Bergejolak Kabupaten Kepulauan Selayar</a:t>
            </a:r>
            <a:endParaRPr lang="en-US" sz="2000" dirty="0"/>
          </a:p>
        </p:txBody>
      </p:sp>
      <p:sp>
        <p:nvSpPr>
          <p:cNvPr id="5" name="Text 3"/>
          <p:cNvSpPr/>
          <p:nvPr/>
        </p:nvSpPr>
        <p:spPr>
          <a:xfrm>
            <a:off x="548640" y="1234440"/>
            <a:ext cx="960120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Cabai Rawit Memimpin Frekuensi Fluktuasi (15x), Disusul Telur Ayam Ras, Beras, dan Cabai Merah</a:t>
            </a:r>
            <a:endParaRPr lang="en-US" sz="1200" dirty="0"/>
          </a:p>
        </p:txBody>
      </p:sp>
      <p:pic>
        <p:nvPicPr>
          <p:cNvPr id="6" name="Image 0" descr="/Volumes/work/_Projects/siph/assets/logos/logo_bps.png"/>
          <p:cNvPicPr>
            <a:picLocks noChangeAspect="1"/>
          </p:cNvPicPr>
          <p:nvPr/>
        </p:nvPicPr>
        <p:blipFill>
          <a:blip r:embed="rId3"/>
          <a:stretch>
            <a:fillRect/>
          </a:stretch>
        </p:blipFill>
        <p:spPr>
          <a:xfrm>
            <a:off x="10241280" y="411480"/>
            <a:ext cx="1371600" cy="466344"/>
          </a:xfrm>
          <a:prstGeom prst="rect">
            <a:avLst/>
          </a:prstGeom>
        </p:spPr>
      </p:pic>
      <p:sp>
        <p:nvSpPr>
          <p:cNvPr id="7" name="Text 4"/>
          <p:cNvSpPr/>
          <p:nvPr/>
        </p:nvSpPr>
        <p:spPr>
          <a:xfrm>
            <a:off x="548640" y="6446520"/>
            <a:ext cx="91440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Sumber: Badan Pusat Statistik &amp; SIPH Sulawesi Selatan 2026 | Evaluasi TPID Kab. Kepulauan Selayar</a:t>
            </a:r>
            <a:endParaRPr lang="en-US" sz="900" dirty="0"/>
          </a:p>
        </p:txBody>
      </p:sp>
      <p:sp>
        <p:nvSpPr>
          <p:cNvPr id="8" name="Text 5"/>
          <p:cNvSpPr/>
          <p:nvPr/>
        </p:nvSpPr>
        <p:spPr>
          <a:xfrm>
            <a:off x="10972800" y="6446520"/>
            <a:ext cx="640080" cy="274320"/>
          </a:xfrm>
          <a:prstGeom prst="rect">
            <a:avLst/>
          </a:prstGeom>
          <a:noFill/>
          <a:ln/>
        </p:spPr>
        <p:txBody>
          <a:bodyPr wrap="square" lIns="0" tIns="0" rIns="0" bIns="0" rtlCol="0" anchor="ctr"/>
          <a:lstStyle/>
          <a:p>
            <a:pPr marL="0" indent="0" algn="r">
              <a:buNone/>
            </a:pPr>
            <a:r>
              <a:rPr lang="en-US" sz="1000" b="1" dirty="0">
                <a:solidFill>
                  <a:srgbClr val="94A3B8"/>
                </a:solidFill>
                <a:latin typeface="Calibri" pitchFamily="34" charset="0"/>
                <a:ea typeface="Calibri" pitchFamily="34" charset="-122"/>
                <a:cs typeface="Calibri" pitchFamily="34" charset="-120"/>
              </a:rPr>
              <a:t>6</a:t>
            </a:r>
            <a:endParaRPr lang="en-US" sz="1000" dirty="0"/>
          </a:p>
        </p:txBody>
      </p:sp>
      <p:sp>
        <p:nvSpPr>
          <p:cNvPr id="9" name="Shape 6"/>
          <p:cNvSpPr/>
          <p:nvPr/>
        </p:nvSpPr>
        <p:spPr>
          <a:xfrm>
            <a:off x="548640" y="1691640"/>
            <a:ext cx="6217920" cy="4617720"/>
          </a:xfrm>
          <a:prstGeom prst="roundRect">
            <a:avLst>
              <a:gd name="adj" fmla="val 2376"/>
            </a:avLst>
          </a:prstGeom>
          <a:solidFill>
            <a:srgbClr val="FFFFFF"/>
          </a:solidFill>
          <a:ln w="12700">
            <a:solidFill>
              <a:srgbClr val="E2E8F0"/>
            </a:solidFill>
            <a:prstDash val="solid"/>
          </a:ln>
        </p:spPr>
        <p:txBody>
          <a:bodyPr/>
          <a:lstStyle/>
          <a:p>
            <a:endParaRPr lang="en-US"/>
          </a:p>
        </p:txBody>
      </p:sp>
      <p:pic>
        <p:nvPicPr>
          <p:cNvPr id="10" name="Image 1" descr="/Volumes/work/_Projects/siph/assets/charts/chart_slide6.png"/>
          <p:cNvPicPr>
            <a:picLocks noChangeAspect="1"/>
          </p:cNvPicPr>
          <p:nvPr/>
        </p:nvPicPr>
        <p:blipFill>
          <a:blip r:embed="rId4"/>
          <a:stretch>
            <a:fillRect/>
          </a:stretch>
        </p:blipFill>
        <p:spPr>
          <a:xfrm>
            <a:off x="685800" y="1783080"/>
            <a:ext cx="5943600" cy="4434840"/>
          </a:xfrm>
          <a:prstGeom prst="rect">
            <a:avLst/>
          </a:prstGeom>
        </p:spPr>
      </p:pic>
      <p:sp>
        <p:nvSpPr>
          <p:cNvPr id="11" name="Shape 7"/>
          <p:cNvSpPr/>
          <p:nvPr/>
        </p:nvSpPr>
        <p:spPr>
          <a:xfrm>
            <a:off x="6949440" y="1691640"/>
            <a:ext cx="4693615" cy="1417320"/>
          </a:xfrm>
          <a:prstGeom prst="roundRect">
            <a:avLst>
              <a:gd name="adj" fmla="val 6452"/>
            </a:avLst>
          </a:prstGeom>
          <a:solidFill>
            <a:srgbClr val="FFFFFF"/>
          </a:solidFill>
          <a:ln w="12700">
            <a:solidFill>
              <a:srgbClr val="FCA5A5"/>
            </a:solidFill>
            <a:prstDash val="solid"/>
          </a:ln>
        </p:spPr>
        <p:txBody>
          <a:bodyPr/>
          <a:lstStyle/>
          <a:p>
            <a:endParaRPr lang="en-US"/>
          </a:p>
        </p:txBody>
      </p:sp>
      <p:sp>
        <p:nvSpPr>
          <p:cNvPr id="12" name="Text 8"/>
          <p:cNvSpPr/>
          <p:nvPr/>
        </p:nvSpPr>
        <p:spPr>
          <a:xfrm>
            <a:off x="7178040" y="1828800"/>
            <a:ext cx="4206240" cy="228600"/>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KLASTER HORTIKULTURA: KERENTANAN TINGGI</a:t>
            </a:r>
            <a:endParaRPr lang="en-US" sz="1000" dirty="0"/>
          </a:p>
        </p:txBody>
      </p:sp>
      <p:sp>
        <p:nvSpPr>
          <p:cNvPr id="13" name="Text 9"/>
          <p:cNvSpPr/>
          <p:nvPr/>
        </p:nvSpPr>
        <p:spPr>
          <a:xfrm>
            <a:off x="7178040" y="2103120"/>
            <a:ext cx="4206240" cy="8686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Cabai Rawit menjadi komoditas paling volatil dengan 15 kali tercatat sebagai pemicu gejolak utama sepanjang 2026. Sifatnya yang lekas rusak (perishable) dan ketergantungan pasokan pulau menjadikannya indikator paling sensitif.</a:t>
            </a:r>
            <a:endParaRPr lang="en-US" sz="1050" dirty="0"/>
          </a:p>
        </p:txBody>
      </p:sp>
      <p:sp>
        <p:nvSpPr>
          <p:cNvPr id="14" name="Shape 10"/>
          <p:cNvSpPr/>
          <p:nvPr/>
        </p:nvSpPr>
        <p:spPr>
          <a:xfrm>
            <a:off x="6949440" y="3291840"/>
            <a:ext cx="4693615" cy="1417320"/>
          </a:xfrm>
          <a:prstGeom prst="roundRect">
            <a:avLst>
              <a:gd name="adj" fmla="val 6452"/>
            </a:avLst>
          </a:prstGeom>
          <a:solidFill>
            <a:srgbClr val="FFFFFF"/>
          </a:solidFill>
          <a:ln w="12700">
            <a:solidFill>
              <a:srgbClr val="FDE68A"/>
            </a:solidFill>
            <a:prstDash val="solid"/>
          </a:ln>
        </p:spPr>
        <p:txBody>
          <a:bodyPr/>
          <a:lstStyle/>
          <a:p>
            <a:endParaRPr lang="en-US"/>
          </a:p>
        </p:txBody>
      </p:sp>
      <p:sp>
        <p:nvSpPr>
          <p:cNvPr id="15" name="Text 11"/>
          <p:cNvSpPr/>
          <p:nvPr/>
        </p:nvSpPr>
        <p:spPr>
          <a:xfrm>
            <a:off x="7178040" y="3429000"/>
            <a:ext cx="4206240" cy="228600"/>
          </a:xfrm>
          <a:prstGeom prst="rect">
            <a:avLst/>
          </a:prstGeom>
          <a:noFill/>
          <a:ln/>
        </p:spPr>
        <p:txBody>
          <a:bodyPr wrap="square" lIns="0" tIns="0" rIns="0" bIns="0" rtlCol="0" anchor="ctr"/>
          <a:lstStyle/>
          <a:p>
            <a:pPr marL="0" indent="0">
              <a:buNone/>
            </a:pPr>
            <a:r>
              <a:rPr lang="en-US" sz="1000" b="1" dirty="0">
                <a:solidFill>
                  <a:srgbClr val="D97706"/>
                </a:solidFill>
                <a:latin typeface="Calibri" pitchFamily="34" charset="0"/>
                <a:ea typeface="Calibri" pitchFamily="34" charset="-122"/>
                <a:cs typeface="Calibri" pitchFamily="34" charset="-120"/>
              </a:rPr>
              <a:t>KLASTER PROTEIN HEWANI: SENSITIF HBKN</a:t>
            </a:r>
            <a:endParaRPr lang="en-US" sz="1000" dirty="0"/>
          </a:p>
        </p:txBody>
      </p:sp>
      <p:sp>
        <p:nvSpPr>
          <p:cNvPr id="16" name="Text 12"/>
          <p:cNvSpPr/>
          <p:nvPr/>
        </p:nvSpPr>
        <p:spPr>
          <a:xfrm>
            <a:off x="7178040" y="3703320"/>
            <a:ext cx="4206240" cy="8686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Telur Ayam Ras (5x gejolak) dan Daging Ayam (3x gejolak) mendominasi lonjakan harga pada momen perayaan dan hari libur. Pasokan ayam ras petelur lokal belum mampu memenuhi kebutuhan mandiri seluruh pulau.</a:t>
            </a:r>
            <a:endParaRPr lang="en-US" sz="1050" dirty="0"/>
          </a:p>
        </p:txBody>
      </p:sp>
      <p:sp>
        <p:nvSpPr>
          <p:cNvPr id="17" name="Shape 13"/>
          <p:cNvSpPr/>
          <p:nvPr/>
        </p:nvSpPr>
        <p:spPr>
          <a:xfrm>
            <a:off x="6949440" y="4892040"/>
            <a:ext cx="4693615" cy="1417320"/>
          </a:xfrm>
          <a:prstGeom prst="roundRect">
            <a:avLst>
              <a:gd name="adj" fmla="val 6452"/>
            </a:avLst>
          </a:prstGeom>
          <a:solidFill>
            <a:srgbClr val="FFFFFF"/>
          </a:solidFill>
          <a:ln w="12700">
            <a:solidFill>
              <a:srgbClr val="E2E8F0"/>
            </a:solidFill>
            <a:prstDash val="solid"/>
          </a:ln>
        </p:spPr>
        <p:txBody>
          <a:bodyPr/>
          <a:lstStyle/>
          <a:p>
            <a:endParaRPr lang="en-US"/>
          </a:p>
        </p:txBody>
      </p:sp>
      <p:sp>
        <p:nvSpPr>
          <p:cNvPr id="18" name="Text 14"/>
          <p:cNvSpPr/>
          <p:nvPr/>
        </p:nvSpPr>
        <p:spPr>
          <a:xfrm>
            <a:off x="7178040" y="5029200"/>
            <a:ext cx="4206240" cy="228600"/>
          </a:xfrm>
          <a:prstGeom prst="rect">
            <a:avLst/>
          </a:prstGeom>
          <a:noFill/>
          <a:ln/>
        </p:spPr>
        <p:txBody>
          <a:bodyPr wrap="square" lIns="0" tIns="0" rIns="0" bIns="0" rtlCol="0" anchor="ctr"/>
          <a:lstStyle/>
          <a:p>
            <a:pPr marL="0" indent="0">
              <a:buNone/>
            </a:pPr>
            <a:r>
              <a:rPr lang="en-US" sz="1000" b="1" dirty="0">
                <a:solidFill>
                  <a:srgbClr val="0284C7"/>
                </a:solidFill>
                <a:latin typeface="Calibri" pitchFamily="34" charset="0"/>
                <a:ea typeface="Calibri" pitchFamily="34" charset="-122"/>
                <a:cs typeface="Calibri" pitchFamily="34" charset="-120"/>
              </a:rPr>
              <a:t>KLASTER PANGAN POKOK: BERAS STRATEGIS</a:t>
            </a:r>
            <a:endParaRPr lang="en-US" sz="1000" dirty="0"/>
          </a:p>
        </p:txBody>
      </p:sp>
      <p:sp>
        <p:nvSpPr>
          <p:cNvPr id="19" name="Text 15"/>
          <p:cNvSpPr/>
          <p:nvPr/>
        </p:nvSpPr>
        <p:spPr>
          <a:xfrm>
            <a:off x="7178040" y="5303520"/>
            <a:ext cx="4206240" cy="868680"/>
          </a:xfrm>
          <a:prstGeom prst="rect">
            <a:avLst/>
          </a:prstGeom>
          <a:noFill/>
          <a:ln/>
        </p:spPr>
        <p:txBody>
          <a:bodyPr wrap="square" lIns="0" tIns="0" rIns="0" bIns="0" rtlCol="0" anchor="ctr"/>
          <a:lstStyle/>
          <a:p>
            <a:pPr marL="0" indent="0">
              <a:buNone/>
            </a:pPr>
            <a:r>
              <a:rPr lang="en-US" sz="1050" dirty="0">
                <a:solidFill>
                  <a:srgbClr val="334155"/>
                </a:solidFill>
                <a:latin typeface="Calibri" pitchFamily="34" charset="0"/>
                <a:ea typeface="Calibri" pitchFamily="34" charset="-122"/>
                <a:cs typeface="Calibri" pitchFamily="34" charset="-120"/>
              </a:rPr>
              <a:t>Beras tercatat 4 kali sebagai fluktuasi tertinggi pada 2026. Meskipun Selayar memiliki buffer stock BULOG, stabilitas harga beras tetap membutuhkan pengawasan jalur logistik laut dan kepatuhan terhadap HET pasar.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411480"/>
            <a:ext cx="3108960" cy="292608"/>
          </a:xfrm>
          <a:prstGeom prst="roundRect">
            <a:avLst>
              <a:gd name="adj" fmla="val 25000"/>
            </a:avLst>
          </a:prstGeom>
          <a:solidFill>
            <a:srgbClr val="E0F2FE"/>
          </a:solidFill>
          <a:ln w="12700">
            <a:solidFill>
              <a:srgbClr val="BAE6FD"/>
            </a:solidFill>
            <a:prstDash val="solid"/>
          </a:ln>
        </p:spPr>
        <p:txBody>
          <a:bodyPr/>
          <a:lstStyle/>
          <a:p>
            <a:endParaRPr lang="en-US"/>
          </a:p>
        </p:txBody>
      </p:sp>
      <p:sp>
        <p:nvSpPr>
          <p:cNvPr id="3" name="Text 1"/>
          <p:cNvSpPr/>
          <p:nvPr/>
        </p:nvSpPr>
        <p:spPr>
          <a:xfrm>
            <a:off x="548640" y="411480"/>
            <a:ext cx="3108960" cy="292608"/>
          </a:xfrm>
          <a:prstGeom prst="rect">
            <a:avLst/>
          </a:prstGeom>
          <a:noFill/>
          <a:ln/>
        </p:spPr>
        <p:txBody>
          <a:bodyPr wrap="square" lIns="0" tIns="0" rIns="0" bIns="0" rtlCol="0" anchor="ctr"/>
          <a:lstStyle/>
          <a:p>
            <a:pPr marL="0" indent="0" algn="ctr">
              <a:buNone/>
            </a:pPr>
            <a:r>
              <a:rPr lang="en-US" sz="850" b="1" dirty="0">
                <a:solidFill>
                  <a:srgbClr val="0369A1"/>
                </a:solidFill>
                <a:latin typeface="Calibri" pitchFamily="34" charset="0"/>
                <a:ea typeface="Calibri" pitchFamily="34" charset="-122"/>
                <a:cs typeface="Calibri" pitchFamily="34" charset="-120"/>
              </a:rPr>
              <a:t>REKOMENDASI KEBIJAKAN TPID</a:t>
            </a:r>
            <a:endParaRPr lang="en-US" sz="850" dirty="0"/>
          </a:p>
        </p:txBody>
      </p:sp>
      <p:sp>
        <p:nvSpPr>
          <p:cNvPr id="4" name="Text 2"/>
          <p:cNvSpPr/>
          <p:nvPr/>
        </p:nvSpPr>
        <p:spPr>
          <a:xfrm>
            <a:off x="548640" y="777240"/>
            <a:ext cx="9601200" cy="438912"/>
          </a:xfrm>
          <a:prstGeom prst="rect">
            <a:avLst/>
          </a:prstGeom>
          <a:noFill/>
          <a:ln/>
        </p:spPr>
        <p:txBody>
          <a:bodyPr wrap="square" lIns="0" tIns="0" rIns="0" bIns="0" rtlCol="0" anchor="ctr"/>
          <a:lstStyle/>
          <a:p>
            <a:pPr marL="0" indent="0">
              <a:buNone/>
            </a:pPr>
            <a:r>
              <a:rPr lang="en-US" sz="2000" b="1" dirty="0">
                <a:solidFill>
                  <a:srgbClr val="0F172A"/>
                </a:solidFill>
                <a:latin typeface="Calibri" pitchFamily="34" charset="0"/>
                <a:ea typeface="Calibri" pitchFamily="34" charset="-122"/>
                <a:cs typeface="Calibri" pitchFamily="34" charset="-120"/>
              </a:rPr>
              <a:t>Rencana Aksi Pengendalian Inflasi Daerah 2026 (Kerangka 4K)</a:t>
            </a:r>
            <a:endParaRPr lang="en-US" sz="2000" dirty="0"/>
          </a:p>
        </p:txBody>
      </p:sp>
      <p:sp>
        <p:nvSpPr>
          <p:cNvPr id="5" name="Text 3"/>
          <p:cNvSpPr/>
          <p:nvPr/>
        </p:nvSpPr>
        <p:spPr>
          <a:xfrm>
            <a:off x="548640" y="1234440"/>
            <a:ext cx="9601200" cy="32004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Strategi Preventif Berbasis Evaluasi IPH Mingguan Untuk Menjaga Stabilitas Harga di Kepulauan Selayar</a:t>
            </a:r>
            <a:endParaRPr lang="en-US" sz="1200" dirty="0"/>
          </a:p>
        </p:txBody>
      </p:sp>
      <p:pic>
        <p:nvPicPr>
          <p:cNvPr id="6" name="Image 0" descr="/Volumes/work/_Projects/siph/assets/logos/logo_bps.png"/>
          <p:cNvPicPr>
            <a:picLocks noChangeAspect="1"/>
          </p:cNvPicPr>
          <p:nvPr/>
        </p:nvPicPr>
        <p:blipFill>
          <a:blip r:embed="rId3"/>
          <a:stretch>
            <a:fillRect/>
          </a:stretch>
        </p:blipFill>
        <p:spPr>
          <a:xfrm>
            <a:off x="10241280" y="411480"/>
            <a:ext cx="1371600" cy="466344"/>
          </a:xfrm>
          <a:prstGeom prst="rect">
            <a:avLst/>
          </a:prstGeom>
        </p:spPr>
      </p:pic>
      <p:sp>
        <p:nvSpPr>
          <p:cNvPr id="7" name="Text 4"/>
          <p:cNvSpPr/>
          <p:nvPr/>
        </p:nvSpPr>
        <p:spPr>
          <a:xfrm>
            <a:off x="548640" y="6446520"/>
            <a:ext cx="91440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Sumber: Badan Pusat Statistik &amp; SIPH Sulawesi Selatan 2026 | Evaluasi TPID Kab. Kepulauan Selayar</a:t>
            </a:r>
            <a:endParaRPr lang="en-US" sz="900" dirty="0"/>
          </a:p>
        </p:txBody>
      </p:sp>
      <p:sp>
        <p:nvSpPr>
          <p:cNvPr id="8" name="Text 5"/>
          <p:cNvSpPr/>
          <p:nvPr/>
        </p:nvSpPr>
        <p:spPr>
          <a:xfrm>
            <a:off x="10972800" y="6446520"/>
            <a:ext cx="640080" cy="274320"/>
          </a:xfrm>
          <a:prstGeom prst="rect">
            <a:avLst/>
          </a:prstGeom>
          <a:noFill/>
          <a:ln/>
        </p:spPr>
        <p:txBody>
          <a:bodyPr wrap="square" lIns="0" tIns="0" rIns="0" bIns="0" rtlCol="0" anchor="ctr"/>
          <a:lstStyle/>
          <a:p>
            <a:pPr marL="0" indent="0" algn="r">
              <a:buNone/>
            </a:pPr>
            <a:r>
              <a:rPr lang="en-US" sz="1000" b="1" dirty="0">
                <a:solidFill>
                  <a:srgbClr val="94A3B8"/>
                </a:solidFill>
                <a:latin typeface="Calibri" pitchFamily="34" charset="0"/>
                <a:ea typeface="Calibri" pitchFamily="34" charset="-122"/>
                <a:cs typeface="Calibri" pitchFamily="34" charset="-120"/>
              </a:rPr>
              <a:t>7</a:t>
            </a:r>
            <a:endParaRPr lang="en-US" sz="1000" dirty="0"/>
          </a:p>
        </p:txBody>
      </p:sp>
      <p:sp>
        <p:nvSpPr>
          <p:cNvPr id="9" name="Shape 6"/>
          <p:cNvSpPr/>
          <p:nvPr/>
        </p:nvSpPr>
        <p:spPr>
          <a:xfrm>
            <a:off x="548640" y="1691640"/>
            <a:ext cx="5349240" cy="1783080"/>
          </a:xfrm>
          <a:prstGeom prst="roundRect">
            <a:avLst>
              <a:gd name="adj" fmla="val 5128"/>
            </a:avLst>
          </a:prstGeom>
          <a:solidFill>
            <a:srgbClr val="FFFFFF"/>
          </a:solidFill>
          <a:ln w="12700">
            <a:solidFill>
              <a:srgbClr val="E2E8F0"/>
            </a:solidFill>
            <a:prstDash val="solid"/>
          </a:ln>
        </p:spPr>
        <p:txBody>
          <a:bodyPr/>
          <a:lstStyle/>
          <a:p>
            <a:endParaRPr lang="en-US"/>
          </a:p>
        </p:txBody>
      </p:sp>
      <p:sp>
        <p:nvSpPr>
          <p:cNvPr id="10" name="Shape 7"/>
          <p:cNvSpPr/>
          <p:nvPr/>
        </p:nvSpPr>
        <p:spPr>
          <a:xfrm>
            <a:off x="777240" y="1874520"/>
            <a:ext cx="411480" cy="320040"/>
          </a:xfrm>
          <a:prstGeom prst="roundRect">
            <a:avLst>
              <a:gd name="adj" fmla="val 17143"/>
            </a:avLst>
          </a:prstGeom>
          <a:solidFill>
            <a:srgbClr val="F1F5F9"/>
          </a:solidFill>
          <a:ln w="12700">
            <a:solidFill>
              <a:srgbClr val="E2E8F0"/>
            </a:solidFill>
            <a:prstDash val="solid"/>
          </a:ln>
        </p:spPr>
        <p:txBody>
          <a:bodyPr/>
          <a:lstStyle/>
          <a:p>
            <a:endParaRPr lang="en-US"/>
          </a:p>
        </p:txBody>
      </p:sp>
      <p:sp>
        <p:nvSpPr>
          <p:cNvPr id="11" name="Text 8"/>
          <p:cNvSpPr/>
          <p:nvPr/>
        </p:nvSpPr>
        <p:spPr>
          <a:xfrm>
            <a:off x="777240" y="1874520"/>
            <a:ext cx="411480" cy="320040"/>
          </a:xfrm>
          <a:prstGeom prst="rect">
            <a:avLst/>
          </a:prstGeom>
          <a:noFill/>
          <a:ln/>
        </p:spPr>
        <p:txBody>
          <a:bodyPr wrap="square" lIns="0" tIns="0" rIns="0" bIns="0" rtlCol="0" anchor="ctr"/>
          <a:lstStyle/>
          <a:p>
            <a:pPr marL="0" indent="0" algn="ctr">
              <a:buNone/>
            </a:pPr>
            <a:r>
              <a:rPr lang="en-US" sz="1000" b="1" dirty="0">
                <a:solidFill>
                  <a:srgbClr val="0284C7"/>
                </a:solidFill>
                <a:latin typeface="Calibri" pitchFamily="34" charset="0"/>
                <a:ea typeface="Calibri" pitchFamily="34" charset="-122"/>
                <a:cs typeface="Calibri" pitchFamily="34" charset="-120"/>
              </a:rPr>
              <a:t>01</a:t>
            </a:r>
            <a:endParaRPr lang="en-US" sz="1000" dirty="0"/>
          </a:p>
        </p:txBody>
      </p:sp>
      <p:sp>
        <p:nvSpPr>
          <p:cNvPr id="12" name="Text 9"/>
          <p:cNvSpPr/>
          <p:nvPr/>
        </p:nvSpPr>
        <p:spPr>
          <a:xfrm>
            <a:off x="1325880" y="1901952"/>
            <a:ext cx="4297680" cy="27432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KETERJANGKAUAN HARGA</a:t>
            </a:r>
            <a:endParaRPr lang="en-US" sz="1200" dirty="0"/>
          </a:p>
        </p:txBody>
      </p:sp>
      <p:sp>
        <p:nvSpPr>
          <p:cNvPr id="13" name="Text 10"/>
          <p:cNvSpPr/>
          <p:nvPr/>
        </p:nvSpPr>
        <p:spPr>
          <a:xfrm>
            <a:off x="777240" y="2286000"/>
            <a:ext cx="4892040" cy="7315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Pelaksanaan Gerakan Pangan Murah (GPM) berkala dan operasi pasar terarah di sentra pulau, terutama pada H-14 momen HBKN Idul Fitri dan Nataru, dengan subsidi selisih harga komoditas pokok.</a:t>
            </a:r>
            <a:endParaRPr lang="en-US" sz="1000" dirty="0"/>
          </a:p>
        </p:txBody>
      </p:sp>
      <p:sp>
        <p:nvSpPr>
          <p:cNvPr id="14" name="Text 11"/>
          <p:cNvSpPr/>
          <p:nvPr/>
        </p:nvSpPr>
        <p:spPr>
          <a:xfrm>
            <a:off x="777240" y="3063240"/>
            <a:ext cx="4892040" cy="274320"/>
          </a:xfrm>
          <a:prstGeom prst="rect">
            <a:avLst/>
          </a:prstGeom>
          <a:noFill/>
          <a:ln/>
        </p:spPr>
        <p:txBody>
          <a:bodyPr wrap="square" lIns="0" tIns="0" rIns="0" bIns="0" rtlCol="0" anchor="ctr"/>
          <a:lstStyle/>
          <a:p>
            <a:pPr marL="0" indent="0">
              <a:buNone/>
            </a:pPr>
            <a:r>
              <a:rPr lang="en-US" sz="950" i="1" dirty="0">
                <a:solidFill>
                  <a:srgbClr val="0284C7"/>
                </a:solidFill>
                <a:latin typeface="Calibri" pitchFamily="34" charset="0"/>
                <a:ea typeface="Calibri" pitchFamily="34" charset="-122"/>
                <a:cs typeface="Calibri" pitchFamily="34" charset="-120"/>
              </a:rPr>
              <a:t>Target: Menjaga daya beli masyarakat berpenghasilan rendah.</a:t>
            </a:r>
            <a:endParaRPr lang="en-US" sz="950" dirty="0"/>
          </a:p>
        </p:txBody>
      </p:sp>
      <p:sp>
        <p:nvSpPr>
          <p:cNvPr id="15" name="Shape 12"/>
          <p:cNvSpPr/>
          <p:nvPr/>
        </p:nvSpPr>
        <p:spPr>
          <a:xfrm>
            <a:off x="6263640" y="1691640"/>
            <a:ext cx="5349240" cy="1783080"/>
          </a:xfrm>
          <a:prstGeom prst="roundRect">
            <a:avLst>
              <a:gd name="adj" fmla="val 5128"/>
            </a:avLst>
          </a:prstGeom>
          <a:solidFill>
            <a:srgbClr val="FFFFFF"/>
          </a:solidFill>
          <a:ln w="12700">
            <a:solidFill>
              <a:srgbClr val="E2E8F0"/>
            </a:solidFill>
            <a:prstDash val="solid"/>
          </a:ln>
        </p:spPr>
        <p:txBody>
          <a:bodyPr/>
          <a:lstStyle/>
          <a:p>
            <a:endParaRPr lang="en-US"/>
          </a:p>
        </p:txBody>
      </p:sp>
      <p:sp>
        <p:nvSpPr>
          <p:cNvPr id="16" name="Shape 13"/>
          <p:cNvSpPr/>
          <p:nvPr/>
        </p:nvSpPr>
        <p:spPr>
          <a:xfrm>
            <a:off x="6492240" y="1874520"/>
            <a:ext cx="411480" cy="320040"/>
          </a:xfrm>
          <a:prstGeom prst="roundRect">
            <a:avLst>
              <a:gd name="adj" fmla="val 17143"/>
            </a:avLst>
          </a:prstGeom>
          <a:solidFill>
            <a:srgbClr val="F1F5F9"/>
          </a:solidFill>
          <a:ln w="12700">
            <a:solidFill>
              <a:srgbClr val="E2E8F0"/>
            </a:solidFill>
            <a:prstDash val="solid"/>
          </a:ln>
        </p:spPr>
        <p:txBody>
          <a:bodyPr/>
          <a:lstStyle/>
          <a:p>
            <a:endParaRPr lang="en-US"/>
          </a:p>
        </p:txBody>
      </p:sp>
      <p:sp>
        <p:nvSpPr>
          <p:cNvPr id="17" name="Text 14"/>
          <p:cNvSpPr/>
          <p:nvPr/>
        </p:nvSpPr>
        <p:spPr>
          <a:xfrm>
            <a:off x="6492240" y="1874520"/>
            <a:ext cx="411480" cy="320040"/>
          </a:xfrm>
          <a:prstGeom prst="rect">
            <a:avLst/>
          </a:prstGeom>
          <a:noFill/>
          <a:ln/>
        </p:spPr>
        <p:txBody>
          <a:bodyPr wrap="square" lIns="0" tIns="0" rIns="0" bIns="0" rtlCol="0" anchor="ctr"/>
          <a:lstStyle/>
          <a:p>
            <a:pPr marL="0" indent="0" algn="ctr">
              <a:buNone/>
            </a:pPr>
            <a:r>
              <a:rPr lang="en-US" sz="1000" b="1" dirty="0">
                <a:solidFill>
                  <a:srgbClr val="16A34A"/>
                </a:solidFill>
                <a:latin typeface="Calibri" pitchFamily="34" charset="0"/>
                <a:ea typeface="Calibri" pitchFamily="34" charset="-122"/>
                <a:cs typeface="Calibri" pitchFamily="34" charset="-120"/>
              </a:rPr>
              <a:t>02</a:t>
            </a:r>
            <a:endParaRPr lang="en-US" sz="1000" dirty="0"/>
          </a:p>
        </p:txBody>
      </p:sp>
      <p:sp>
        <p:nvSpPr>
          <p:cNvPr id="18" name="Text 15"/>
          <p:cNvSpPr/>
          <p:nvPr/>
        </p:nvSpPr>
        <p:spPr>
          <a:xfrm>
            <a:off x="7040880" y="1901952"/>
            <a:ext cx="4297680" cy="27432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KETERSEDIAAN PASOKAN</a:t>
            </a:r>
            <a:endParaRPr lang="en-US" sz="1200" dirty="0"/>
          </a:p>
        </p:txBody>
      </p:sp>
      <p:sp>
        <p:nvSpPr>
          <p:cNvPr id="19" name="Text 16"/>
          <p:cNvSpPr/>
          <p:nvPr/>
        </p:nvSpPr>
        <p:spPr>
          <a:xfrm>
            <a:off x="6492240" y="2286000"/>
            <a:ext cx="4892040" cy="7315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Penguatan cadangan pangan pemerintah daerah (CPPD) bersama BULOG, optimalisasi fasilitas cold storage komunal untuk cabai &amp; bawang, serta penguatan Kerjasama Antar Daerah (KAD) dengan sentra daratan Sulsel.</a:t>
            </a:r>
            <a:endParaRPr lang="en-US" sz="1000" dirty="0"/>
          </a:p>
        </p:txBody>
      </p:sp>
      <p:sp>
        <p:nvSpPr>
          <p:cNvPr id="20" name="Text 17"/>
          <p:cNvSpPr/>
          <p:nvPr/>
        </p:nvSpPr>
        <p:spPr>
          <a:xfrm>
            <a:off x="6492240" y="3063240"/>
            <a:ext cx="4892040" cy="274320"/>
          </a:xfrm>
          <a:prstGeom prst="rect">
            <a:avLst/>
          </a:prstGeom>
          <a:noFill/>
          <a:ln/>
        </p:spPr>
        <p:txBody>
          <a:bodyPr wrap="square" lIns="0" tIns="0" rIns="0" bIns="0" rtlCol="0" anchor="ctr"/>
          <a:lstStyle/>
          <a:p>
            <a:pPr marL="0" indent="0">
              <a:buNone/>
            </a:pPr>
            <a:r>
              <a:rPr lang="en-US" sz="950" i="1" dirty="0">
                <a:solidFill>
                  <a:srgbClr val="16A34A"/>
                </a:solidFill>
                <a:latin typeface="Calibri" pitchFamily="34" charset="0"/>
                <a:ea typeface="Calibri" pitchFamily="34" charset="-122"/>
                <a:cs typeface="Calibri" pitchFamily="34" charset="-120"/>
              </a:rPr>
              <a:t>Target: Stok aman minimal 3-4 minggu saat cuaca laut ekstrem.</a:t>
            </a:r>
            <a:endParaRPr lang="en-US" sz="950" dirty="0"/>
          </a:p>
        </p:txBody>
      </p:sp>
      <p:sp>
        <p:nvSpPr>
          <p:cNvPr id="21" name="Shape 18"/>
          <p:cNvSpPr/>
          <p:nvPr/>
        </p:nvSpPr>
        <p:spPr>
          <a:xfrm>
            <a:off x="548640" y="3611880"/>
            <a:ext cx="5349240" cy="1783080"/>
          </a:xfrm>
          <a:prstGeom prst="roundRect">
            <a:avLst>
              <a:gd name="adj" fmla="val 5128"/>
            </a:avLst>
          </a:prstGeom>
          <a:solidFill>
            <a:srgbClr val="FFFFFF"/>
          </a:solidFill>
          <a:ln w="12700">
            <a:solidFill>
              <a:srgbClr val="E2E8F0"/>
            </a:solidFill>
            <a:prstDash val="solid"/>
          </a:ln>
        </p:spPr>
        <p:txBody>
          <a:bodyPr/>
          <a:lstStyle/>
          <a:p>
            <a:endParaRPr lang="en-US"/>
          </a:p>
        </p:txBody>
      </p:sp>
      <p:sp>
        <p:nvSpPr>
          <p:cNvPr id="22" name="Shape 19"/>
          <p:cNvSpPr/>
          <p:nvPr/>
        </p:nvSpPr>
        <p:spPr>
          <a:xfrm>
            <a:off x="777240" y="3794760"/>
            <a:ext cx="411480" cy="320040"/>
          </a:xfrm>
          <a:prstGeom prst="roundRect">
            <a:avLst>
              <a:gd name="adj" fmla="val 17143"/>
            </a:avLst>
          </a:prstGeom>
          <a:solidFill>
            <a:srgbClr val="F1F5F9"/>
          </a:solidFill>
          <a:ln w="12700">
            <a:solidFill>
              <a:srgbClr val="E2E8F0"/>
            </a:solidFill>
            <a:prstDash val="solid"/>
          </a:ln>
        </p:spPr>
        <p:txBody>
          <a:bodyPr/>
          <a:lstStyle/>
          <a:p>
            <a:endParaRPr lang="en-US"/>
          </a:p>
        </p:txBody>
      </p:sp>
      <p:sp>
        <p:nvSpPr>
          <p:cNvPr id="23" name="Text 20"/>
          <p:cNvSpPr/>
          <p:nvPr/>
        </p:nvSpPr>
        <p:spPr>
          <a:xfrm>
            <a:off x="777240" y="3794760"/>
            <a:ext cx="411480" cy="320040"/>
          </a:xfrm>
          <a:prstGeom prst="rect">
            <a:avLst/>
          </a:prstGeom>
          <a:noFill/>
          <a:ln/>
        </p:spPr>
        <p:txBody>
          <a:bodyPr wrap="square" lIns="0" tIns="0" rIns="0" bIns="0" rtlCol="0" anchor="ctr"/>
          <a:lstStyle/>
          <a:p>
            <a:pPr marL="0" indent="0" algn="ctr">
              <a:buNone/>
            </a:pPr>
            <a:r>
              <a:rPr lang="en-US" sz="1000" b="1" dirty="0">
                <a:solidFill>
                  <a:srgbClr val="D97706"/>
                </a:solidFill>
                <a:latin typeface="Calibri" pitchFamily="34" charset="0"/>
                <a:ea typeface="Calibri" pitchFamily="34" charset="-122"/>
                <a:cs typeface="Calibri" pitchFamily="34" charset="-120"/>
              </a:rPr>
              <a:t>03</a:t>
            </a:r>
            <a:endParaRPr lang="en-US" sz="1000" dirty="0"/>
          </a:p>
        </p:txBody>
      </p:sp>
      <p:sp>
        <p:nvSpPr>
          <p:cNvPr id="24" name="Text 21"/>
          <p:cNvSpPr/>
          <p:nvPr/>
        </p:nvSpPr>
        <p:spPr>
          <a:xfrm>
            <a:off x="1325880" y="3822192"/>
            <a:ext cx="4297680" cy="27432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KELANCARAN DISTRIBUSI</a:t>
            </a:r>
            <a:endParaRPr lang="en-US" sz="1200" dirty="0"/>
          </a:p>
        </p:txBody>
      </p:sp>
      <p:sp>
        <p:nvSpPr>
          <p:cNvPr id="25" name="Text 22"/>
          <p:cNvSpPr/>
          <p:nvPr/>
        </p:nvSpPr>
        <p:spPr>
          <a:xfrm>
            <a:off x="777240" y="4206240"/>
            <a:ext cx="4892040" cy="7315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Pemberian dispensasi prioritas muatan bagi truk bahan pangan pokok di pelabuhan feri Bira - Pamatata, koordinasi kesiapan armada ASDP, serta subsidi ongkos angkut (SOA) maritim saat ombak tinggi.</a:t>
            </a:r>
            <a:endParaRPr lang="en-US" sz="1000" dirty="0"/>
          </a:p>
        </p:txBody>
      </p:sp>
      <p:sp>
        <p:nvSpPr>
          <p:cNvPr id="26" name="Text 23"/>
          <p:cNvSpPr/>
          <p:nvPr/>
        </p:nvSpPr>
        <p:spPr>
          <a:xfrm>
            <a:off x="777240" y="4983480"/>
            <a:ext cx="4892040" cy="274320"/>
          </a:xfrm>
          <a:prstGeom prst="rect">
            <a:avLst/>
          </a:prstGeom>
          <a:noFill/>
          <a:ln/>
        </p:spPr>
        <p:txBody>
          <a:bodyPr wrap="square" lIns="0" tIns="0" rIns="0" bIns="0" rtlCol="0" anchor="ctr"/>
          <a:lstStyle/>
          <a:p>
            <a:pPr marL="0" indent="0">
              <a:buNone/>
            </a:pPr>
            <a:r>
              <a:rPr lang="en-US" sz="950" i="1" dirty="0">
                <a:solidFill>
                  <a:srgbClr val="D97706"/>
                </a:solidFill>
                <a:latin typeface="Calibri" pitchFamily="34" charset="0"/>
                <a:ea typeface="Calibri" pitchFamily="34" charset="-122"/>
                <a:cs typeface="Calibri" pitchFamily="34" charset="-120"/>
              </a:rPr>
              <a:t>Target: Arus barang tidak terputus lebih dari 48 jam.</a:t>
            </a:r>
            <a:endParaRPr lang="en-US" sz="950" dirty="0"/>
          </a:p>
        </p:txBody>
      </p:sp>
      <p:sp>
        <p:nvSpPr>
          <p:cNvPr id="27" name="Shape 24"/>
          <p:cNvSpPr/>
          <p:nvPr/>
        </p:nvSpPr>
        <p:spPr>
          <a:xfrm>
            <a:off x="6263640" y="3611880"/>
            <a:ext cx="5349240" cy="1783080"/>
          </a:xfrm>
          <a:prstGeom prst="roundRect">
            <a:avLst>
              <a:gd name="adj" fmla="val 5128"/>
            </a:avLst>
          </a:prstGeom>
          <a:solidFill>
            <a:srgbClr val="FFFFFF"/>
          </a:solidFill>
          <a:ln w="12700">
            <a:solidFill>
              <a:srgbClr val="E2E8F0"/>
            </a:solidFill>
            <a:prstDash val="solid"/>
          </a:ln>
        </p:spPr>
        <p:txBody>
          <a:bodyPr/>
          <a:lstStyle/>
          <a:p>
            <a:endParaRPr lang="en-US"/>
          </a:p>
        </p:txBody>
      </p:sp>
      <p:sp>
        <p:nvSpPr>
          <p:cNvPr id="28" name="Shape 25"/>
          <p:cNvSpPr/>
          <p:nvPr/>
        </p:nvSpPr>
        <p:spPr>
          <a:xfrm>
            <a:off x="6492240" y="3794760"/>
            <a:ext cx="411480" cy="320040"/>
          </a:xfrm>
          <a:prstGeom prst="roundRect">
            <a:avLst>
              <a:gd name="adj" fmla="val 17143"/>
            </a:avLst>
          </a:prstGeom>
          <a:solidFill>
            <a:srgbClr val="F1F5F9"/>
          </a:solidFill>
          <a:ln w="12700">
            <a:solidFill>
              <a:srgbClr val="E2E8F0"/>
            </a:solidFill>
            <a:prstDash val="solid"/>
          </a:ln>
        </p:spPr>
        <p:txBody>
          <a:bodyPr/>
          <a:lstStyle/>
          <a:p>
            <a:endParaRPr lang="en-US"/>
          </a:p>
        </p:txBody>
      </p:sp>
      <p:sp>
        <p:nvSpPr>
          <p:cNvPr id="29" name="Text 26"/>
          <p:cNvSpPr/>
          <p:nvPr/>
        </p:nvSpPr>
        <p:spPr>
          <a:xfrm>
            <a:off x="6492240" y="3794760"/>
            <a:ext cx="411480" cy="320040"/>
          </a:xfrm>
          <a:prstGeom prst="rect">
            <a:avLst/>
          </a:prstGeom>
          <a:noFill/>
          <a:ln/>
        </p:spPr>
        <p:txBody>
          <a:bodyPr wrap="square" lIns="0" tIns="0" rIns="0" bIns="0" rtlCol="0" anchor="ctr"/>
          <a:lstStyle/>
          <a:p>
            <a:pPr marL="0" indent="0" algn="ctr">
              <a:buNone/>
            </a:pPr>
            <a:r>
              <a:rPr lang="en-US" sz="1000" b="1" dirty="0">
                <a:solidFill>
                  <a:srgbClr val="4F46E5"/>
                </a:solidFill>
                <a:latin typeface="Calibri" pitchFamily="34" charset="0"/>
                <a:ea typeface="Calibri" pitchFamily="34" charset="-122"/>
                <a:cs typeface="Calibri" pitchFamily="34" charset="-120"/>
              </a:rPr>
              <a:t>04</a:t>
            </a:r>
            <a:endParaRPr lang="en-US" sz="1000" dirty="0"/>
          </a:p>
        </p:txBody>
      </p:sp>
      <p:sp>
        <p:nvSpPr>
          <p:cNvPr id="30" name="Text 27"/>
          <p:cNvSpPr/>
          <p:nvPr/>
        </p:nvSpPr>
        <p:spPr>
          <a:xfrm>
            <a:off x="7040880" y="3822192"/>
            <a:ext cx="4297680" cy="274320"/>
          </a:xfrm>
          <a:prstGeom prst="rect">
            <a:avLst/>
          </a:prstGeom>
          <a:noFill/>
          <a:ln/>
        </p:spPr>
        <p:txBody>
          <a:bodyPr wrap="square" lIns="0" tIns="0" rIns="0" bIns="0"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KOMUNIKASI EFEKTIF</a:t>
            </a:r>
            <a:endParaRPr lang="en-US" sz="1200" dirty="0"/>
          </a:p>
        </p:txBody>
      </p:sp>
      <p:sp>
        <p:nvSpPr>
          <p:cNvPr id="31" name="Text 28"/>
          <p:cNvSpPr/>
          <p:nvPr/>
        </p:nvSpPr>
        <p:spPr>
          <a:xfrm>
            <a:off x="6492240" y="4206240"/>
            <a:ext cx="4892040" cy="7315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Publikasi berkala update harga komoditas pangan melalui kanal resmi dan radio daerah untuk mencegah kepanikan belanja (panic buying), sidak penimbunan di tingkat grosir, serta imbauan belanja bijak.</a:t>
            </a:r>
            <a:endParaRPr lang="en-US" sz="1000" dirty="0"/>
          </a:p>
        </p:txBody>
      </p:sp>
      <p:sp>
        <p:nvSpPr>
          <p:cNvPr id="32" name="Text 29"/>
          <p:cNvSpPr/>
          <p:nvPr/>
        </p:nvSpPr>
        <p:spPr>
          <a:xfrm>
            <a:off x="6492240" y="4983480"/>
            <a:ext cx="4892040" cy="274320"/>
          </a:xfrm>
          <a:prstGeom prst="rect">
            <a:avLst/>
          </a:prstGeom>
          <a:noFill/>
          <a:ln/>
        </p:spPr>
        <p:txBody>
          <a:bodyPr wrap="square" lIns="0" tIns="0" rIns="0" bIns="0" rtlCol="0" anchor="ctr"/>
          <a:lstStyle/>
          <a:p>
            <a:pPr marL="0" indent="0">
              <a:buNone/>
            </a:pPr>
            <a:r>
              <a:rPr lang="en-US" sz="950" i="1" dirty="0">
                <a:solidFill>
                  <a:srgbClr val="4F46E5"/>
                </a:solidFill>
                <a:latin typeface="Calibri" pitchFamily="34" charset="0"/>
                <a:ea typeface="Calibri" pitchFamily="34" charset="-122"/>
                <a:cs typeface="Calibri" pitchFamily="34" charset="-120"/>
              </a:rPr>
              <a:t>Target: Ekspektasi inflasi masyarakat tetap rasional dan tenang.</a:t>
            </a:r>
            <a:endParaRPr lang="en-US" sz="950" dirty="0"/>
          </a:p>
        </p:txBody>
      </p:sp>
      <p:sp>
        <p:nvSpPr>
          <p:cNvPr id="33" name="Shape 30"/>
          <p:cNvSpPr/>
          <p:nvPr/>
        </p:nvSpPr>
        <p:spPr>
          <a:xfrm>
            <a:off x="548640" y="5532120"/>
            <a:ext cx="11064240" cy="777240"/>
          </a:xfrm>
          <a:prstGeom prst="roundRect">
            <a:avLst>
              <a:gd name="adj" fmla="val 9412"/>
            </a:avLst>
          </a:prstGeom>
          <a:solidFill>
            <a:srgbClr val="EFF6FF"/>
          </a:solidFill>
          <a:ln w="12700">
            <a:solidFill>
              <a:srgbClr val="BFDBFE"/>
            </a:solidFill>
            <a:prstDash val="solid"/>
          </a:ln>
        </p:spPr>
        <p:txBody>
          <a:bodyPr/>
          <a:lstStyle/>
          <a:p>
            <a:endParaRPr lang="en-US"/>
          </a:p>
        </p:txBody>
      </p:sp>
      <p:sp>
        <p:nvSpPr>
          <p:cNvPr id="34" name="Text 31"/>
          <p:cNvSpPr/>
          <p:nvPr/>
        </p:nvSpPr>
        <p:spPr>
          <a:xfrm>
            <a:off x="777240" y="5605272"/>
            <a:ext cx="10607040" cy="640080"/>
          </a:xfrm>
          <a:prstGeom prst="rect">
            <a:avLst/>
          </a:prstGeom>
          <a:noFill/>
          <a:ln/>
        </p:spPr>
        <p:txBody>
          <a:bodyPr wrap="square" lIns="0" tIns="0" rIns="0" bIns="0" rtlCol="0" anchor="ctr"/>
          <a:lstStyle/>
          <a:p>
            <a:pPr marL="0" indent="0">
              <a:buNone/>
            </a:pPr>
            <a:r>
              <a:rPr lang="en-US" sz="950" b="1" dirty="0">
                <a:solidFill>
                  <a:srgbClr val="1E40AF"/>
                </a:solidFill>
                <a:latin typeface="Calibri" pitchFamily="34" charset="0"/>
                <a:ea typeface="Calibri" pitchFamily="34" charset="-122"/>
                <a:cs typeface="Calibri" pitchFamily="34" charset="-120"/>
              </a:rPr>
              <a:t>Fokus Pemantauan Komoditas Prioritas 2026: </a:t>
            </a:r>
            <a:r>
              <a:rPr lang="en-US" sz="950" dirty="0">
                <a:solidFill>
                  <a:srgbClr val="334155"/>
                </a:solidFill>
                <a:latin typeface="Calibri" pitchFamily="34" charset="0"/>
                <a:ea typeface="Calibri" pitchFamily="34" charset="-122"/>
                <a:cs typeface="Calibri" pitchFamily="34" charset="-120"/>
              </a:rPr>
              <a:t>Cabai Rawit (15x volatil), Telur Ayam Ras, Daging Sapi/Ayam saat HBKN, dan Beras di awal musim hujan.\n</a:t>
            </a:r>
            <a:r>
              <a:rPr lang="en-US" sz="950" b="1" dirty="0">
                <a:solidFill>
                  <a:srgbClr val="1E40AF"/>
                </a:solidFill>
                <a:latin typeface="Calibri" pitchFamily="34" charset="0"/>
                <a:ea typeface="Calibri" pitchFamily="34" charset="-122"/>
                <a:cs typeface="Calibri" pitchFamily="34" charset="-120"/>
              </a:rPr>
              <a:t>*Rujukan Ketahanan Pangan: </a:t>
            </a:r>
            <a:r>
              <a:rPr lang="en-US" sz="950" dirty="0">
                <a:solidFill>
                  <a:srgbClr val="64748B"/>
                </a:solidFill>
                <a:latin typeface="Calibri" pitchFamily="34" charset="0"/>
                <a:ea typeface="Calibri" pitchFamily="34" charset="-122"/>
                <a:cs typeface="Calibri" pitchFamily="34" charset="-120"/>
              </a:rPr>
              <a:t>Kebijakan harga dan pasokan diarahkan untuk menjamin terpenuhinya standar Angka Kecukupan Gizi (AKG) 2.100 kkal / kapita / hari.</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731520" y="731520"/>
            <a:ext cx="5486400" cy="5394960"/>
          </a:xfrm>
          <a:prstGeom prst="roundRect">
            <a:avLst>
              <a:gd name="adj" fmla="val 2542"/>
            </a:avLst>
          </a:prstGeom>
          <a:solidFill>
            <a:srgbClr val="1E293B"/>
          </a:solidFill>
          <a:ln w="19050">
            <a:solidFill>
              <a:srgbClr val="334155"/>
            </a:solidFill>
            <a:prstDash val="solid"/>
          </a:ln>
        </p:spPr>
        <p:txBody>
          <a:bodyPr/>
          <a:lstStyle/>
          <a:p>
            <a:endParaRPr lang="en-US"/>
          </a:p>
        </p:txBody>
      </p:sp>
      <p:pic>
        <p:nvPicPr>
          <p:cNvPr id="3" name="Image 0" descr="/Volumes/work/_Projects/siph/assets/logos/logo_selayar.png"/>
          <p:cNvPicPr>
            <a:picLocks noChangeAspect="1"/>
          </p:cNvPicPr>
          <p:nvPr/>
        </p:nvPicPr>
        <p:blipFill>
          <a:blip r:embed="rId3"/>
          <a:stretch>
            <a:fillRect/>
          </a:stretch>
        </p:blipFill>
        <p:spPr>
          <a:xfrm>
            <a:off x="1188720" y="1188720"/>
            <a:ext cx="914400" cy="914400"/>
          </a:xfrm>
          <a:prstGeom prst="rect">
            <a:avLst/>
          </a:prstGeom>
        </p:spPr>
      </p:pic>
      <p:sp>
        <p:nvSpPr>
          <p:cNvPr id="4" name="Text 1"/>
          <p:cNvSpPr/>
          <p:nvPr/>
        </p:nvSpPr>
        <p:spPr>
          <a:xfrm>
            <a:off x="1188720" y="2377440"/>
            <a:ext cx="45720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Terima Kasih</a:t>
            </a:r>
            <a:endParaRPr lang="en-US" sz="3200" dirty="0"/>
          </a:p>
        </p:txBody>
      </p:sp>
      <p:sp>
        <p:nvSpPr>
          <p:cNvPr id="5" name="Text 2"/>
          <p:cNvSpPr/>
          <p:nvPr/>
        </p:nvSpPr>
        <p:spPr>
          <a:xfrm>
            <a:off x="1188720" y="3063240"/>
            <a:ext cx="4572000" cy="64008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Sinergi Kuat Menjaga Stabilitas Harga &amp; Kesejahteraan Masyarakat Kepulauan Selayar</a:t>
            </a:r>
            <a:endParaRPr lang="en-US" sz="1400" dirty="0"/>
          </a:p>
        </p:txBody>
      </p:sp>
      <p:sp>
        <p:nvSpPr>
          <p:cNvPr id="6" name="Shape 3"/>
          <p:cNvSpPr/>
          <p:nvPr/>
        </p:nvSpPr>
        <p:spPr>
          <a:xfrm>
            <a:off x="1188720" y="3931920"/>
            <a:ext cx="4572000" cy="1737360"/>
          </a:xfrm>
          <a:prstGeom prst="roundRect">
            <a:avLst>
              <a:gd name="adj" fmla="val 5263"/>
            </a:avLst>
          </a:prstGeom>
          <a:solidFill>
            <a:srgbClr val="0F172A"/>
          </a:solidFill>
          <a:ln w="12700">
            <a:solidFill>
              <a:srgbClr val="334155"/>
            </a:solidFill>
            <a:prstDash val="solid"/>
          </a:ln>
        </p:spPr>
        <p:txBody>
          <a:bodyPr/>
          <a:lstStyle/>
          <a:p>
            <a:endParaRPr lang="en-US"/>
          </a:p>
        </p:txBody>
      </p:sp>
      <p:sp>
        <p:nvSpPr>
          <p:cNvPr id="7" name="Text 4"/>
          <p:cNvSpPr/>
          <p:nvPr/>
        </p:nvSpPr>
        <p:spPr>
          <a:xfrm>
            <a:off x="1371600" y="4069080"/>
            <a:ext cx="4206240" cy="1463040"/>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Tim Pengendalian Inflasi Daerah (TPID)\n</a:t>
            </a:r>
            <a:endParaRPr lang="en-US" sz="1300" dirty="0"/>
          </a:p>
          <a:p>
            <a:pPr marL="0" indent="0">
              <a:buNone/>
            </a:pPr>
            <a:r>
              <a:rPr lang="en-US" sz="1100" b="1" dirty="0">
                <a:solidFill>
                  <a:srgbClr val="F1F5F9"/>
                </a:solidFill>
                <a:latin typeface="Calibri" pitchFamily="34" charset="0"/>
                <a:ea typeface="Calibri" pitchFamily="34" charset="-122"/>
                <a:cs typeface="Calibri" pitchFamily="34" charset="-120"/>
              </a:rPr>
              <a:t>Kabupaten Kepulauan Selayar Tahun 2026\n\n</a:t>
            </a:r>
            <a:endParaRPr lang="en-US" sz="1300" dirty="0"/>
          </a:p>
          <a:p>
            <a:pPr marL="0" indent="0">
              <a:buNone/>
            </a:pPr>
            <a:r>
              <a:rPr lang="en-US" sz="1000" b="1" dirty="0">
                <a:solidFill>
                  <a:srgbClr val="94A3B8"/>
                </a:solidFill>
                <a:latin typeface="Calibri" pitchFamily="34" charset="0"/>
                <a:ea typeface="Calibri" pitchFamily="34" charset="-122"/>
                <a:cs typeface="Calibri" pitchFamily="34" charset="-120"/>
              </a:rPr>
              <a:t>Sekretariat: </a:t>
            </a:r>
            <a:r>
              <a:rPr lang="en-US" sz="1000" dirty="0">
                <a:solidFill>
                  <a:srgbClr val="CBD5E1"/>
                </a:solidFill>
                <a:latin typeface="Calibri" pitchFamily="34" charset="0"/>
                <a:ea typeface="Calibri" pitchFamily="34" charset="-122"/>
                <a:cs typeface="Calibri" pitchFamily="34" charset="-120"/>
              </a:rPr>
              <a:t>Bagian Perekonomian Setda Kab. Kepulauan Selayar\n</a:t>
            </a:r>
            <a:endParaRPr lang="en-US" sz="1300" dirty="0"/>
          </a:p>
          <a:p>
            <a:pPr marL="0" indent="0">
              <a:buNone/>
            </a:pPr>
            <a:r>
              <a:rPr lang="en-US" sz="1000" b="1" dirty="0">
                <a:solidFill>
                  <a:srgbClr val="94A3B8"/>
                </a:solidFill>
                <a:latin typeface="Calibri" pitchFamily="34" charset="0"/>
                <a:ea typeface="Calibri" pitchFamily="34" charset="-122"/>
                <a:cs typeface="Calibri" pitchFamily="34" charset="-120"/>
              </a:rPr>
              <a:t>Mitra Data: </a:t>
            </a:r>
            <a:r>
              <a:rPr lang="en-US" sz="1000" dirty="0">
                <a:solidFill>
                  <a:srgbClr val="CBD5E1"/>
                </a:solidFill>
                <a:latin typeface="Calibri" pitchFamily="34" charset="0"/>
                <a:ea typeface="Calibri" pitchFamily="34" charset="-122"/>
                <a:cs typeface="Calibri" pitchFamily="34" charset="-120"/>
              </a:rPr>
              <a:t>BPS Kabupaten Kepulauan Selayar\n\n</a:t>
            </a:r>
            <a:endParaRPr lang="en-US" sz="1300" dirty="0"/>
          </a:p>
          <a:p>
            <a:pPr marL="0" indent="0">
              <a:buNone/>
            </a:pPr>
            <a:r>
              <a:rPr lang="en-US" sz="1000" b="1" dirty="0">
                <a:solidFill>
                  <a:srgbClr val="64748B"/>
                </a:solidFill>
                <a:latin typeface="Calibri" pitchFamily="34" charset="0"/>
                <a:ea typeface="Calibri" pitchFamily="34" charset="-122"/>
                <a:cs typeface="Calibri" pitchFamily="34" charset="-120"/>
              </a:rPr>
              <a:t>Dashboard IPH: </a:t>
            </a:r>
            <a:r>
              <a:rPr lang="en-US" sz="1000" b="1" dirty="0">
                <a:solidFill>
                  <a:srgbClr val="38BDF8"/>
                </a:solidFill>
                <a:latin typeface="Calibri" pitchFamily="34" charset="0"/>
                <a:ea typeface="Calibri" pitchFamily="34" charset="-122"/>
                <a:cs typeface="Calibri" pitchFamily="34" charset="-120"/>
              </a:rPr>
              <a:t>https://ridsonap.github.io/siph/?kab=7301</a:t>
            </a:r>
            <a:endParaRPr lang="en-US" sz="1300" dirty="0"/>
          </a:p>
        </p:txBody>
      </p:sp>
      <p:sp>
        <p:nvSpPr>
          <p:cNvPr id="8" name="Shape 5"/>
          <p:cNvSpPr/>
          <p:nvPr/>
        </p:nvSpPr>
        <p:spPr>
          <a:xfrm>
            <a:off x="6492240" y="731520"/>
            <a:ext cx="4967935" cy="5394960"/>
          </a:xfrm>
          <a:prstGeom prst="roundRect">
            <a:avLst>
              <a:gd name="adj" fmla="val 2761"/>
            </a:avLst>
          </a:prstGeom>
          <a:solidFill>
            <a:srgbClr val="1E293B"/>
          </a:solidFill>
          <a:ln w="19050">
            <a:solidFill>
              <a:srgbClr val="F59E0B"/>
            </a:solidFill>
            <a:prstDash val="solid"/>
          </a:ln>
        </p:spPr>
        <p:txBody>
          <a:bodyPr/>
          <a:lstStyle/>
          <a:p>
            <a:endParaRPr lang="en-US"/>
          </a:p>
        </p:txBody>
      </p:sp>
      <p:pic>
        <p:nvPicPr>
          <p:cNvPr id="9" name="Image 1" descr="/Volumes/work/_Projects/siph/assets/logos/logo_bps.png"/>
          <p:cNvPicPr>
            <a:picLocks noChangeAspect="1"/>
          </p:cNvPicPr>
          <p:nvPr/>
        </p:nvPicPr>
        <p:blipFill>
          <a:blip r:embed="rId4"/>
          <a:stretch>
            <a:fillRect/>
          </a:stretch>
        </p:blipFill>
        <p:spPr>
          <a:xfrm>
            <a:off x="6949440" y="1188720"/>
            <a:ext cx="1645920" cy="557784"/>
          </a:xfrm>
          <a:prstGeom prst="rect">
            <a:avLst/>
          </a:prstGeom>
        </p:spPr>
      </p:pic>
      <p:pic>
        <p:nvPicPr>
          <p:cNvPr id="10" name="Image 2" descr="/Volumes/work/_Projects/siph/assets/logos/logo_se2026.png"/>
          <p:cNvPicPr>
            <a:picLocks noChangeAspect="1"/>
          </p:cNvPicPr>
          <p:nvPr/>
        </p:nvPicPr>
        <p:blipFill>
          <a:blip r:embed="rId5"/>
          <a:stretch>
            <a:fillRect/>
          </a:stretch>
        </p:blipFill>
        <p:spPr>
          <a:xfrm>
            <a:off x="9966960" y="1051560"/>
            <a:ext cx="1005840" cy="1005840"/>
          </a:xfrm>
          <a:prstGeom prst="rect">
            <a:avLst/>
          </a:prstGeom>
        </p:spPr>
      </p:pic>
      <p:sp>
        <p:nvSpPr>
          <p:cNvPr id="11" name="Shape 6"/>
          <p:cNvSpPr/>
          <p:nvPr/>
        </p:nvSpPr>
        <p:spPr>
          <a:xfrm>
            <a:off x="6949440" y="2103120"/>
            <a:ext cx="3200400" cy="320040"/>
          </a:xfrm>
          <a:prstGeom prst="roundRect">
            <a:avLst>
              <a:gd name="adj" fmla="val 22857"/>
            </a:avLst>
          </a:prstGeom>
          <a:solidFill>
            <a:srgbClr val="D97706"/>
          </a:solidFill>
          <a:ln w="12700">
            <a:solidFill>
              <a:srgbClr val="FBBF24"/>
            </a:solidFill>
            <a:prstDash val="solid"/>
          </a:ln>
        </p:spPr>
        <p:txBody>
          <a:bodyPr/>
          <a:lstStyle/>
          <a:p>
            <a:endParaRPr lang="en-US"/>
          </a:p>
        </p:txBody>
      </p:sp>
      <p:sp>
        <p:nvSpPr>
          <p:cNvPr id="12" name="Text 7"/>
          <p:cNvSpPr/>
          <p:nvPr/>
        </p:nvSpPr>
        <p:spPr>
          <a:xfrm>
            <a:off x="6949440" y="2103120"/>
            <a:ext cx="320040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#MencatatEkonomiIndonesia</a:t>
            </a:r>
            <a:endParaRPr lang="en-US" sz="1000" dirty="0"/>
          </a:p>
        </p:txBody>
      </p:sp>
      <p:sp>
        <p:nvSpPr>
          <p:cNvPr id="13" name="Text 8"/>
          <p:cNvSpPr/>
          <p:nvPr/>
        </p:nvSpPr>
        <p:spPr>
          <a:xfrm>
            <a:off x="6949440" y="2560320"/>
            <a:ext cx="4114800" cy="82296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SENSUS EKONOMI 2026\nMILIK INDONESIA</a:t>
            </a:r>
            <a:endParaRPr lang="en-US" sz="2000" dirty="0"/>
          </a:p>
        </p:txBody>
      </p:sp>
      <p:sp>
        <p:nvSpPr>
          <p:cNvPr id="14" name="Text 9"/>
          <p:cNvSpPr/>
          <p:nvPr/>
        </p:nvSpPr>
        <p:spPr>
          <a:xfrm>
            <a:off x="6949440" y="3474720"/>
            <a:ext cx="4114800" cy="914400"/>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Bersama kita kawal pelaksanaan SENSUS EKONOMI 2026 untuk mewujudkan basis data ekonomi yang akurat, berdaulat, dan mendorong kemandirian perekonomian nasional.</a:t>
            </a:r>
            <a:endParaRPr lang="en-US" sz="1150" dirty="0"/>
          </a:p>
        </p:txBody>
      </p:sp>
      <p:sp>
        <p:nvSpPr>
          <p:cNvPr id="15" name="Shape 10"/>
          <p:cNvSpPr/>
          <p:nvPr/>
        </p:nvSpPr>
        <p:spPr>
          <a:xfrm>
            <a:off x="6949440" y="4572000"/>
            <a:ext cx="4114800" cy="1097280"/>
          </a:xfrm>
          <a:prstGeom prst="roundRect">
            <a:avLst>
              <a:gd name="adj" fmla="val 6667"/>
            </a:avLst>
          </a:prstGeom>
          <a:solidFill>
            <a:srgbClr val="0F172A"/>
          </a:solidFill>
          <a:ln w="12700">
            <a:solidFill>
              <a:srgbClr val="334155"/>
            </a:solidFill>
            <a:prstDash val="solid"/>
          </a:ln>
        </p:spPr>
        <p:txBody>
          <a:bodyPr/>
          <a:lstStyle/>
          <a:p>
            <a:endParaRPr lang="en-US"/>
          </a:p>
        </p:txBody>
      </p:sp>
      <p:sp>
        <p:nvSpPr>
          <p:cNvPr id="16" name="Text 11"/>
          <p:cNvSpPr/>
          <p:nvPr/>
        </p:nvSpPr>
        <p:spPr>
          <a:xfrm>
            <a:off x="7132320" y="4709160"/>
            <a:ext cx="3749040" cy="822960"/>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Badan Pusat Statistik (BPS)\nMenyediakan Data Berkualitas untuk Indonesia Maju\nwww.bps.go.id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1398</Words>
  <Application>Microsoft Macintosh PowerPoint</Application>
  <PresentationFormat>Widescreen</PresentationFormat>
  <Paragraphs>110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Ridson Alfarizal</cp:lastModifiedBy>
  <cp:revision>2</cp:revision>
  <dcterms:created xsi:type="dcterms:W3CDTF">2026-10-09T06:35:27Z</dcterms:created>
  <dcterms:modified xsi:type="dcterms:W3CDTF">2026-10-09T06:56:38Z</dcterms:modified>
</cp:coreProperties>
</file>