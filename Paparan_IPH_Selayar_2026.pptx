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Open Sauce Bold" charset="1" panose="00000800000000000000"/>
      <p:regular r:id="rId12"/>
    </p:embeddedFont>
    <p:embeddedFont>
      <p:font typeface="Barlow Condensed Bold" charset="1" panose="00000806000000000000"/>
      <p:regular r:id="rId13"/>
    </p:embeddedFont>
    <p:embeddedFont>
      <p:font typeface="Open Sauce Semi-Bold" charset="1" panose="00000700000000000000"/>
      <p:regular r:id="rId14"/>
    </p:embeddedFont>
    <p:embeddedFont>
      <p:font typeface="Barlow Condensed Semi-Bold" charset="1" panose="00000706000000000000"/>
      <p:regular r:id="rId15"/>
    </p:embeddedFont>
    <p:embeddedFont>
      <p:font typeface="Open Sauce" charset="1" panose="00000500000000000000"/>
      <p:regular r:id="rId16"/>
    </p:embeddedFont>
    <p:embeddedFont>
      <p:font typeface="Barlow Condensed" charset="1" panose="00000506000000000000"/>
      <p:regular r:id="rId17"/>
    </p:embeddedFont>
    <p:embeddedFont>
      <p:font typeface="Barlow Condensed Medium" charset="1" panose="00000606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png" Type="http://schemas.openxmlformats.org/officeDocument/2006/relationships/image"/><Relationship Id="rId12" Target="../media/image32.png" Type="http://schemas.openxmlformats.org/officeDocument/2006/relationships/image"/><Relationship Id="rId13" Target="../media/image33.png" Type="http://schemas.openxmlformats.org/officeDocument/2006/relationships/image"/><Relationship Id="rId14" Target="../media/image34.png" Type="http://schemas.openxmlformats.org/officeDocument/2006/relationships/image"/><Relationship Id="rId15" Target="../media/image35.png" Type="http://schemas.openxmlformats.org/officeDocument/2006/relationships/image"/><Relationship Id="rId16" Target="../media/image36.png" Type="http://schemas.openxmlformats.org/officeDocument/2006/relationships/image"/><Relationship Id="rId17" Target="../media/image37.png" Type="http://schemas.openxmlformats.org/officeDocument/2006/relationships/image"/><Relationship Id="rId18" Target="../media/image38.png" Type="http://schemas.openxmlformats.org/officeDocument/2006/relationships/image"/><Relationship Id="rId19" Target="../media/image39.png" Type="http://schemas.openxmlformats.org/officeDocument/2006/relationships/image"/><Relationship Id="rId2" Target="../media/image22.png" Type="http://schemas.openxmlformats.org/officeDocument/2006/relationships/image"/><Relationship Id="rId20" Target="../media/image40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png" Type="http://schemas.openxmlformats.org/officeDocument/2006/relationships/image"/><Relationship Id="rId12" Target="../media/image57.png" Type="http://schemas.openxmlformats.org/officeDocument/2006/relationships/image"/><Relationship Id="rId13" Target="../media/image58.png" Type="http://schemas.openxmlformats.org/officeDocument/2006/relationships/image"/><Relationship Id="rId14" Target="../media/image59.png" Type="http://schemas.openxmlformats.org/officeDocument/2006/relationships/image"/><Relationship Id="rId15" Target="../media/image60.png" Type="http://schemas.openxmlformats.org/officeDocument/2006/relationships/image"/><Relationship Id="rId2" Target="../media/image47.png" Type="http://schemas.openxmlformats.org/officeDocument/2006/relationships/image"/><Relationship Id="rId3" Target="../media/image48.png" Type="http://schemas.openxmlformats.org/officeDocument/2006/relationships/image"/><Relationship Id="rId4" Target="../media/image49.png" Type="http://schemas.openxmlformats.org/officeDocument/2006/relationships/image"/><Relationship Id="rId5" Target="../media/image50.png" Type="http://schemas.openxmlformats.org/officeDocument/2006/relationships/image"/><Relationship Id="rId6" Target="../media/image51.pn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0"/>
            <a:ext cx="6103292" cy="10287000"/>
          </a:xfrm>
          <a:custGeom>
            <a:avLst/>
            <a:gdLst/>
            <a:ahLst/>
            <a:cxnLst/>
            <a:rect r="r" b="b" t="t" l="l"/>
            <a:pathLst>
              <a:path h="10287000" w="6103292">
                <a:moveTo>
                  <a:pt x="0" y="0"/>
                </a:moveTo>
                <a:lnTo>
                  <a:pt x="6103292" y="0"/>
                </a:lnTo>
                <a:lnTo>
                  <a:pt x="610329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7954" y="1292061"/>
            <a:ext cx="5892853" cy="42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1"/>
              </a:lnSpc>
            </a:pPr>
            <a:r>
              <a:rPr lang="en-US" sz="3348" b="true">
                <a:solidFill>
                  <a:srgbClr val="FFFFFF">
                    <a:alpha val="89804"/>
                  </a:srgbClr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LAPORAN PERKEMBANGAN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5675" y="2053079"/>
            <a:ext cx="4726252" cy="339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4"/>
              </a:lnSpc>
            </a:pPr>
            <a:r>
              <a:rPr lang="en-US" sz="27370" b="true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IPH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614126" y="2172738"/>
            <a:ext cx="3836569" cy="120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490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KEPULAUAN</a:t>
            </a:r>
          </a:p>
          <a:p>
            <a:pPr algn="l">
              <a:lnSpc>
                <a:spcPts val="4661"/>
              </a:lnSpc>
            </a:pPr>
            <a:r>
              <a:rPr lang="en-US" sz="4905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SELAYAR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621770" y="3632444"/>
            <a:ext cx="3072177" cy="117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5"/>
              </a:lnSpc>
            </a:pPr>
            <a:r>
              <a:rPr lang="en-US" sz="9203" b="true">
                <a:solidFill>
                  <a:srgbClr val="DBAB4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2026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919394"/>
            <a:ext cx="8072096" cy="229572"/>
          </a:xfrm>
          <a:custGeom>
            <a:avLst/>
            <a:gdLst/>
            <a:ahLst/>
            <a:cxnLst/>
            <a:rect r="r" b="b" t="t" l="l"/>
            <a:pathLst>
              <a:path h="229572" w="8072096">
                <a:moveTo>
                  <a:pt x="0" y="0"/>
                </a:moveTo>
                <a:lnTo>
                  <a:pt x="8072096" y="0"/>
                </a:lnTo>
                <a:lnTo>
                  <a:pt x="8072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04977" y="5312053"/>
            <a:ext cx="7190595" cy="867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b="true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Paparan Tim Pengendalian Inflasi Daerah (TPID)</a:t>
            </a:r>
          </a:p>
          <a:p>
            <a:pPr algn="l">
              <a:lnSpc>
                <a:spcPts val="3599"/>
              </a:lnSpc>
            </a:pPr>
            <a:r>
              <a:rPr lang="en-US" sz="2399" b="true">
                <a:solidFill>
                  <a:srgbClr val="FFFFFF">
                    <a:alpha val="89804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Kabupaten Kepulauan Selayar Tahun 2026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4086" y="6428009"/>
            <a:ext cx="1531292" cy="437279"/>
          </a:xfrm>
          <a:custGeom>
            <a:avLst/>
            <a:gdLst/>
            <a:ahLst/>
            <a:cxnLst/>
            <a:rect r="r" b="b" t="t" l="l"/>
            <a:pathLst>
              <a:path h="437279" w="1531292">
                <a:moveTo>
                  <a:pt x="0" y="0"/>
                </a:moveTo>
                <a:lnTo>
                  <a:pt x="1531292" y="0"/>
                </a:lnTo>
                <a:lnTo>
                  <a:pt x="153129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76883" y="7153801"/>
            <a:ext cx="8572500" cy="2243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7"/>
              </a:lnSpc>
            </a:pP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Evaluasi mingguan </a:t>
            </a:r>
            <a:r>
              <a:rPr lang="en-US" sz="2387" b="true">
                <a:solidFill>
                  <a:srgbClr val="DBAB49">
                    <a:alpha val="89804"/>
                  </a:srgbClr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dinamika harga </a:t>
            </a: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komoditas pangan pokok</a:t>
            </a:r>
          </a:p>
          <a:p>
            <a:pPr algn="l">
              <a:lnSpc>
                <a:spcPts val="4537"/>
              </a:lnSpc>
            </a:pP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Pemetaan komoditas pemicu </a:t>
            </a:r>
            <a:r>
              <a:rPr lang="en-US" sz="2387" b="true">
                <a:solidFill>
                  <a:srgbClr val="DBAB49">
                    <a:alpha val="89804"/>
                  </a:srgbClr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inflasi </a:t>
            </a: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dan </a:t>
            </a:r>
            <a:r>
              <a:rPr lang="en-US" sz="2387" b="true">
                <a:solidFill>
                  <a:srgbClr val="DBAB49">
                    <a:alpha val="89804"/>
                  </a:srgbClr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deflasi </a:t>
            </a: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daerah</a:t>
            </a:r>
          </a:p>
          <a:p>
            <a:pPr algn="l">
              <a:lnSpc>
                <a:spcPts val="4537"/>
              </a:lnSpc>
            </a:pP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Rekomendasi </a:t>
            </a:r>
            <a:r>
              <a:rPr lang="en-US" sz="2387" b="true">
                <a:solidFill>
                  <a:srgbClr val="DBAB49">
                    <a:alpha val="89804"/>
                  </a:srgbClr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strategi pengendalian </a:t>
            </a: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inflasi</a:t>
            </a:r>
          </a:p>
          <a:p>
            <a:pPr algn="l">
              <a:lnSpc>
                <a:spcPts val="4537"/>
              </a:lnSpc>
            </a:pPr>
            <a:r>
              <a:rPr lang="en-US" sz="2387" b="true">
                <a:solidFill>
                  <a:srgbClr val="FFFFFF">
                    <a:alpha val="89804"/>
                  </a:srgbClr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wilayah kepulauan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68976" y="0"/>
            <a:ext cx="4801694" cy="10287000"/>
          </a:xfrm>
          <a:custGeom>
            <a:avLst/>
            <a:gdLst/>
            <a:ahLst/>
            <a:cxnLst/>
            <a:rect r="r" b="b" t="t" l="l"/>
            <a:pathLst>
              <a:path h="10287000" w="4801694">
                <a:moveTo>
                  <a:pt x="0" y="0"/>
                </a:moveTo>
                <a:lnTo>
                  <a:pt x="4801694" y="0"/>
                </a:lnTo>
                <a:lnTo>
                  <a:pt x="480169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2195646" cy="10287000"/>
          </a:xfrm>
          <a:custGeom>
            <a:avLst/>
            <a:gdLst/>
            <a:ahLst/>
            <a:cxnLst/>
            <a:rect r="r" b="b" t="t" l="l"/>
            <a:pathLst>
              <a:path h="10287000" w="12195646">
                <a:moveTo>
                  <a:pt x="0" y="0"/>
                </a:moveTo>
                <a:lnTo>
                  <a:pt x="12195646" y="0"/>
                </a:lnTo>
                <a:lnTo>
                  <a:pt x="1219564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94103" y="826183"/>
            <a:ext cx="4883408" cy="62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4724" b="true">
                <a:solidFill>
                  <a:srgbClr val="F8F8F8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RINGKASAN EKSEKUTIF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7813" y="1473858"/>
            <a:ext cx="8833586" cy="1354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10229" b="true">
                <a:solidFill>
                  <a:srgbClr val="F8F8F8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DINAMIKA IPH </a:t>
            </a:r>
            <a:r>
              <a:rPr lang="en-US" sz="10229" b="true">
                <a:solidFill>
                  <a:srgbClr val="CF9440"/>
                </a:solidFill>
                <a:latin typeface="Barlow Condensed Semi-Bold"/>
                <a:ea typeface="Barlow Condensed Semi-Bold"/>
                <a:cs typeface="Barlow Condensed Semi-Bold"/>
                <a:sym typeface="Barlow Condensed Semi-Bold"/>
              </a:rPr>
              <a:t>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2776725"/>
            <a:ext cx="6540804" cy="229572"/>
          </a:xfrm>
          <a:custGeom>
            <a:avLst/>
            <a:gdLst/>
            <a:ahLst/>
            <a:cxnLst/>
            <a:rect r="r" b="b" t="t" l="l"/>
            <a:pathLst>
              <a:path h="229572" w="6540804">
                <a:moveTo>
                  <a:pt x="0" y="0"/>
                </a:moveTo>
                <a:lnTo>
                  <a:pt x="6540804" y="0"/>
                </a:lnTo>
                <a:lnTo>
                  <a:pt x="654080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98664" y="3272476"/>
            <a:ext cx="7106221" cy="782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D9D9D9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Gambaran menyeluruh fluktuasi harga komoditas dari Januari hingga Oktober 2026.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4711687"/>
            <a:ext cx="448450" cy="4503979"/>
          </a:xfrm>
          <a:custGeom>
            <a:avLst/>
            <a:gdLst/>
            <a:ahLst/>
            <a:cxnLst/>
            <a:rect r="r" b="b" t="t" l="l"/>
            <a:pathLst>
              <a:path h="4503979" w="448450">
                <a:moveTo>
                  <a:pt x="0" y="0"/>
                </a:moveTo>
                <a:lnTo>
                  <a:pt x="448450" y="0"/>
                </a:lnTo>
                <a:lnTo>
                  <a:pt x="448450" y="4503978"/>
                </a:lnTo>
                <a:lnTo>
                  <a:pt x="0" y="45039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38407" y="4532057"/>
            <a:ext cx="6710092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Rentang fluktuasi IPH Selayar sepanjang 2026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7831" y="4799333"/>
            <a:ext cx="7767644" cy="515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8"/>
              </a:lnSpc>
            </a:pPr>
            <a:r>
              <a:rPr lang="en-US" sz="3168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bergerak antara </a:t>
            </a:r>
            <a:r>
              <a:rPr lang="en-US" sz="3168" b="true">
                <a:solidFill>
                  <a:srgbClr val="0FB0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-3.29%</a:t>
            </a:r>
            <a:r>
              <a:rPr lang="en-US" sz="3168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hingga </a:t>
            </a:r>
            <a:r>
              <a:rPr lang="en-US" sz="3168" b="true">
                <a:solidFill>
                  <a:srgbClr val="0FB0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+3.29%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7650" y="5767046"/>
            <a:ext cx="6785732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Titik tertinggi terjadi pada April (HBKN Idul Fitri)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58968" y="7062278"/>
            <a:ext cx="4654006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Titik terendah tercatat di Juli M5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4630" y="8327389"/>
            <a:ext cx="4087744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Rebound inflasi terjadi mulai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46" y="9081716"/>
            <a:ext cx="6246139" cy="705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12"/>
              </a:lnSpc>
            </a:pPr>
            <a:r>
              <a:rPr lang="en-US" sz="4394" b="true">
                <a:solidFill>
                  <a:srgbClr val="CF94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+0.84%</a:t>
            </a:r>
            <a:r>
              <a:rPr lang="en-US" sz="4394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hingga </a:t>
            </a:r>
            <a:r>
              <a:rPr lang="en-US" sz="4394" b="true">
                <a:solidFill>
                  <a:srgbClr val="CF94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+1.57%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27855" y="7392827"/>
            <a:ext cx="7765256" cy="3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 b="true">
                <a:solidFill>
                  <a:srgbClr val="0FB0B6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-2.02%</a:t>
            </a:r>
            <a:r>
              <a:rPr lang="en-US" sz="2487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akibat normalisasi pasokan pasca panen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8228" y="6218871"/>
            <a:ext cx="5727962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dengan IPH </a:t>
            </a:r>
            <a:r>
              <a:rPr lang="en-US" sz="2271" b="true">
                <a:solidFill>
                  <a:srgbClr val="CF94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+3.29%</a:t>
            </a:r>
            <a:r>
              <a:rPr lang="en-US" sz="2271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(Tertinggi di Sulsel)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0669" y="8734031"/>
            <a:ext cx="4483892" cy="34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3"/>
              </a:lnSpc>
            </a:pPr>
            <a:r>
              <a:rPr lang="en-US" sz="2271" b="true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September hingga Oktober M1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64354" y="0"/>
            <a:ext cx="4364182" cy="10287000"/>
          </a:xfrm>
          <a:custGeom>
            <a:avLst/>
            <a:gdLst/>
            <a:ahLst/>
            <a:cxnLst/>
            <a:rect r="r" b="b" t="t" l="l"/>
            <a:pathLst>
              <a:path h="10287000" w="4364182">
                <a:moveTo>
                  <a:pt x="0" y="0"/>
                </a:moveTo>
                <a:lnTo>
                  <a:pt x="4364182" y="0"/>
                </a:lnTo>
                <a:lnTo>
                  <a:pt x="4364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0"/>
            <a:ext cx="6967378" cy="10287000"/>
          </a:xfrm>
          <a:custGeom>
            <a:avLst/>
            <a:gdLst/>
            <a:ahLst/>
            <a:cxnLst/>
            <a:rect r="r" b="b" t="t" l="l"/>
            <a:pathLst>
              <a:path h="10287000" w="6967378">
                <a:moveTo>
                  <a:pt x="0" y="0"/>
                </a:moveTo>
                <a:lnTo>
                  <a:pt x="6967378" y="0"/>
                </a:lnTo>
                <a:lnTo>
                  <a:pt x="696737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23238" y="1011371"/>
            <a:ext cx="9291074" cy="155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9"/>
              </a:lnSpc>
            </a:pPr>
            <a:r>
              <a:rPr lang="en-US" b="true" sz="6292" spc="-61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TREN FLUKTUASI</a:t>
            </a:r>
          </a:p>
          <a:p>
            <a:pPr algn="l">
              <a:lnSpc>
                <a:spcPts val="5979"/>
              </a:lnSpc>
            </a:pPr>
            <a:r>
              <a:rPr lang="en-US" b="true" sz="6292" spc="-61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IPH PER KUARTAL </a:t>
            </a:r>
            <a:r>
              <a:rPr lang="en-US" b="true" sz="6292" spc="-61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2026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776725"/>
            <a:ext cx="9373694" cy="448211"/>
          </a:xfrm>
          <a:custGeom>
            <a:avLst/>
            <a:gdLst/>
            <a:ahLst/>
            <a:cxnLst/>
            <a:rect r="r" b="b" t="t" l="l"/>
            <a:pathLst>
              <a:path h="448211" w="9373694">
                <a:moveTo>
                  <a:pt x="0" y="0"/>
                </a:moveTo>
                <a:lnTo>
                  <a:pt x="9373694" y="0"/>
                </a:lnTo>
                <a:lnTo>
                  <a:pt x="937369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5330" y="3421712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53959" y="3886249"/>
            <a:ext cx="1760361" cy="66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KUARTAL I</a:t>
            </a:r>
          </a:p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JAN-FEB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78220" y="3848060"/>
            <a:ext cx="2187560" cy="448211"/>
          </a:xfrm>
          <a:custGeom>
            <a:avLst/>
            <a:gdLst/>
            <a:ahLst/>
            <a:cxnLst/>
            <a:rect r="r" b="b" t="t" l="l"/>
            <a:pathLst>
              <a:path h="448211" w="2187560">
                <a:moveTo>
                  <a:pt x="0" y="0"/>
                </a:moveTo>
                <a:lnTo>
                  <a:pt x="2187560" y="0"/>
                </a:lnTo>
                <a:lnTo>
                  <a:pt x="2187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201848" y="3566411"/>
            <a:ext cx="1523656" cy="131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21"/>
              </a:lnSpc>
            </a:pPr>
            <a:r>
              <a:rPr lang="en-US" b="true" sz="3601" spc="-35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-0.22%</a:t>
            </a:r>
          </a:p>
          <a:p>
            <a:pPr algn="r">
              <a:lnSpc>
                <a:spcPts val="3421"/>
              </a:lnSpc>
            </a:pPr>
            <a:r>
              <a:rPr lang="en-US" b="true" sz="3601" spc="-35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S.D.</a:t>
            </a:r>
          </a:p>
          <a:p>
            <a:pPr algn="r">
              <a:lnSpc>
                <a:spcPts val="3421"/>
              </a:lnSpc>
            </a:pPr>
            <a:r>
              <a:rPr lang="en-US" b="true" sz="3601" spc="-35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-1.88%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5138034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52982" y="5573064"/>
            <a:ext cx="1858088" cy="66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KUARTAL II</a:t>
            </a:r>
          </a:p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MAR-JUN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478220" y="5564382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811133" y="5254633"/>
            <a:ext cx="2888227" cy="1009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Lonjakan tajam</a:t>
            </a:r>
          </a:p>
          <a:p>
            <a:pPr algn="l">
              <a:lnSpc>
                <a:spcPts val="2741"/>
              </a:lnSpc>
            </a:pPr>
            <a:r>
              <a:rPr lang="en-US" sz="210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 Maret-April,</a:t>
            </a:r>
          </a:p>
          <a:p>
            <a:pPr algn="l">
              <a:lnSpc>
                <a:spcPts val="2741"/>
              </a:lnSpc>
            </a:pPr>
            <a:r>
              <a:rPr lang="en-US" sz="210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normalisasi di Mei-Juni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2131" y="5221405"/>
            <a:ext cx="1583976" cy="1637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30"/>
              </a:lnSpc>
            </a:pPr>
            <a:r>
              <a:rPr lang="en-US" b="true" sz="2768" spc="-27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+3.29%</a:t>
            </a:r>
          </a:p>
          <a:p>
            <a:pPr algn="r">
              <a:lnSpc>
                <a:spcPts val="2630"/>
              </a:lnSpc>
            </a:pPr>
            <a:r>
              <a:rPr lang="en-US" b="true" sz="2768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HINGGA</a:t>
            </a:r>
          </a:p>
          <a:p>
            <a:pPr algn="r">
              <a:lnSpc>
                <a:spcPts val="2630"/>
              </a:lnSpc>
            </a:pPr>
            <a:r>
              <a:rPr lang="en-US" b="true" sz="2768" spc="-27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-0.5%</a:t>
            </a:r>
          </a:p>
          <a:p>
            <a:pPr algn="r">
              <a:lnSpc>
                <a:spcPts val="2630"/>
              </a:lnSpc>
            </a:pPr>
            <a:r>
              <a:rPr lang="en-US" b="true" sz="2768" spc="-27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S.D. </a:t>
            </a:r>
            <a:r>
              <a:rPr lang="en-US" b="true" sz="2768" spc="-27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-0.7%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6854356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52004" y="7380364"/>
            <a:ext cx="1955816" cy="66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KUARTAL III</a:t>
            </a:r>
          </a:p>
          <a:p>
            <a:pPr algn="l">
              <a:lnSpc>
                <a:spcPts val="2538"/>
              </a:lnSpc>
            </a:pPr>
            <a:r>
              <a:rPr lang="en-US" b="true" sz="2671" spc="-26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JUL-SEP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478220" y="7499343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5810929" y="7163567"/>
            <a:ext cx="2908619" cy="957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0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Deflasi terdalam di Juli, pemulihan di Agustus, lonjakan di September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19169" y="7334239"/>
            <a:ext cx="1607169" cy="1102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1"/>
              </a:lnSpc>
            </a:pPr>
            <a:r>
              <a:rPr lang="en-US" b="true" sz="3095" spc="-30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-2.02%</a:t>
            </a:r>
          </a:p>
          <a:p>
            <a:pPr algn="r">
              <a:lnSpc>
                <a:spcPts val="2941"/>
              </a:lnSpc>
            </a:pPr>
            <a:r>
              <a:rPr lang="en-US" b="true" sz="3095" spc="-3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HINGGA</a:t>
            </a:r>
          </a:p>
          <a:p>
            <a:pPr algn="r">
              <a:lnSpc>
                <a:spcPts val="2941"/>
              </a:lnSpc>
            </a:pPr>
            <a:r>
              <a:rPr lang="en-US" b="true" sz="3095" spc="-30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+1.57%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8570678"/>
            <a:ext cx="3062584" cy="1289974"/>
          </a:xfrm>
          <a:custGeom>
            <a:avLst/>
            <a:gdLst/>
            <a:ahLst/>
            <a:cxnLst/>
            <a:rect r="r" b="b" t="t" l="l"/>
            <a:pathLst>
              <a:path h="1289974" w="3062584">
                <a:moveTo>
                  <a:pt x="0" y="0"/>
                </a:moveTo>
                <a:lnTo>
                  <a:pt x="3062584" y="0"/>
                </a:lnTo>
                <a:lnTo>
                  <a:pt x="306258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51760" y="8977326"/>
            <a:ext cx="1980232" cy="589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</a:pPr>
            <a:r>
              <a:rPr lang="en-US" b="true" sz="2390" spc="-23">
                <a:solidFill>
                  <a:srgbClr val="F8F8F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KUARTAL IV</a:t>
            </a:r>
          </a:p>
          <a:p>
            <a:pPr algn="l">
              <a:lnSpc>
                <a:spcPts val="2271"/>
              </a:lnSpc>
            </a:pPr>
            <a:r>
              <a:rPr lang="en-US" b="true" sz="2390" spc="-23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OKTOBER M1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3478220" y="8997026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817497" y="8901700"/>
            <a:ext cx="2251843" cy="635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20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Stabilisasi di zona</a:t>
            </a:r>
          </a:p>
          <a:p>
            <a:pPr algn="l">
              <a:lnSpc>
                <a:spcPts val="2650"/>
              </a:lnSpc>
            </a:pPr>
            <a:r>
              <a:rPr lang="en-US" sz="203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inflasi moderat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231917" y="9096415"/>
            <a:ext cx="1493283" cy="40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5"/>
              </a:lnSpc>
            </a:pPr>
            <a:r>
              <a:rPr lang="en-US" b="true" sz="3247" spc="-31">
                <a:solidFill>
                  <a:srgbClr val="DD9F3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+0.84%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40016" y="3818357"/>
            <a:ext cx="2920008" cy="714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Tren deflasi</a:t>
            </a:r>
          </a:p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relatif stabil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76890" cy="10287000"/>
          </a:xfrm>
          <a:custGeom>
            <a:avLst/>
            <a:gdLst/>
            <a:ahLst/>
            <a:cxnLst/>
            <a:rect r="r" b="b" t="t" l="l"/>
            <a:pathLst>
              <a:path h="10287000" w="1197689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73464" y="744503"/>
            <a:ext cx="7663001" cy="153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26"/>
              </a:lnSpc>
            </a:pPr>
            <a:r>
              <a:rPr lang="en-US" sz="5849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KOMODITAS UTAMA PEMICU INFLASI &amp;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6245" y="2536303"/>
            <a:ext cx="3384899" cy="85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2"/>
              </a:lnSpc>
            </a:pPr>
            <a:r>
              <a:rPr lang="en-US" sz="6340" b="true">
                <a:solidFill>
                  <a:srgbClr val="D694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DEFLASI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3640352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63923" y="3658428"/>
            <a:ext cx="2195222" cy="51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290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Cabai Rawit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998574" y="3640352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11391" y="3714659"/>
            <a:ext cx="4822031" cy="86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Penyumbang inflasi terbesar</a:t>
            </a:r>
          </a:p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di Sep–Okt (andil hingga </a:t>
            </a:r>
            <a:r>
              <a:rPr lang="en-US" sz="2387" b="true">
                <a:solidFill>
                  <a:srgbClr val="D694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+1.13%</a:t>
            </a: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4711687"/>
            <a:ext cx="448450" cy="1289974"/>
          </a:xfrm>
          <a:custGeom>
            <a:avLst/>
            <a:gdLst/>
            <a:ahLst/>
            <a:cxnLst/>
            <a:rect r="r" b="b" t="t" l="l"/>
            <a:pathLst>
              <a:path h="1289974" w="448450">
                <a:moveTo>
                  <a:pt x="0" y="0"/>
                </a:moveTo>
                <a:lnTo>
                  <a:pt x="448450" y="0"/>
                </a:lnTo>
                <a:lnTo>
                  <a:pt x="448450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53186" y="4825503"/>
            <a:ext cx="3268938" cy="525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Daging Ayam Ras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998574" y="4919394"/>
            <a:ext cx="229694" cy="874559"/>
          </a:xfrm>
          <a:custGeom>
            <a:avLst/>
            <a:gdLst/>
            <a:ahLst/>
            <a:cxnLst/>
            <a:rect r="r" b="b" t="t" l="l"/>
            <a:pathLst>
              <a:path h="874559" w="229694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411391" y="4889405"/>
            <a:ext cx="4822031" cy="86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Fluktuasi tinggi sepanjang tahun</a:t>
            </a:r>
          </a:p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(andil </a:t>
            </a:r>
            <a:r>
              <a:rPr lang="en-US" sz="2387" b="true">
                <a:solidFill>
                  <a:srgbClr val="D694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+0.92%</a:t>
            </a: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s.d. </a:t>
            </a:r>
            <a:r>
              <a:rPr lang="en-US" sz="2387" b="true">
                <a:solidFill>
                  <a:srgbClr val="0F9EA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-0.61%</a:t>
            </a: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45330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63655" y="6053102"/>
            <a:ext cx="2222039" cy="51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290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Daging Sapi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5875" y="6535778"/>
            <a:ext cx="3482578" cy="42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Pemicu Utama HBKN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4998574" y="5990729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411391" y="6064150"/>
            <a:ext cx="4125516" cy="86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Lonjakan ekstrem di</a:t>
            </a:r>
          </a:p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April 2026 (andil </a:t>
            </a:r>
            <a:r>
              <a:rPr lang="en-US" sz="2387" b="true">
                <a:solidFill>
                  <a:srgbClr val="D6943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+2.17%</a:t>
            </a: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)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45330" y="7062064"/>
            <a:ext cx="448450" cy="1300906"/>
          </a:xfrm>
          <a:custGeom>
            <a:avLst/>
            <a:gdLst/>
            <a:ahLst/>
            <a:cxnLst/>
            <a:rect r="r" b="b" t="t" l="l"/>
            <a:pathLst>
              <a:path h="1300906" w="448450">
                <a:moveTo>
                  <a:pt x="0" y="0"/>
                </a:moveTo>
                <a:lnTo>
                  <a:pt x="448450" y="0"/>
                </a:lnTo>
                <a:lnTo>
                  <a:pt x="44845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61420" y="7303151"/>
            <a:ext cx="2445453" cy="510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2904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Udang Basah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4998574" y="7280704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411391" y="7261990"/>
            <a:ext cx="4125516" cy="10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Komoditas Khas Kepulauan, berfluktuasi akibat musim</a:t>
            </a:r>
          </a:p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tangkap nelayan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45330" y="8570678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51062" y="8799005"/>
            <a:ext cx="3481295" cy="406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33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Bawang Merah &amp; Beras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4998574" y="8570678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411391" y="8677709"/>
            <a:ext cx="4125516" cy="1071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Menjadi penyumbang</a:t>
            </a:r>
          </a:p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deflasi pada masa panen raya</a:t>
            </a:r>
          </a:p>
          <a:p>
            <a:pPr algn="l">
              <a:lnSpc>
                <a:spcPts val="2930"/>
              </a:lnSpc>
            </a:pPr>
            <a:r>
              <a:rPr lang="en-US" sz="2254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daratan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1320622" y="426348"/>
            <a:ext cx="3707914" cy="2798589"/>
          </a:xfrm>
          <a:custGeom>
            <a:avLst/>
            <a:gdLst/>
            <a:ahLst/>
            <a:cxnLst/>
            <a:rect r="r" b="b" t="t" l="l"/>
            <a:pathLst>
              <a:path h="2798589" w="3707914">
                <a:moveTo>
                  <a:pt x="0" y="0"/>
                </a:moveTo>
                <a:lnTo>
                  <a:pt x="3707914" y="0"/>
                </a:lnTo>
                <a:lnTo>
                  <a:pt x="3707914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580086" y="1497682"/>
            <a:ext cx="3707914" cy="2579949"/>
          </a:xfrm>
          <a:custGeom>
            <a:avLst/>
            <a:gdLst/>
            <a:ahLst/>
            <a:cxnLst/>
            <a:rect r="r" b="b" t="t" l="l"/>
            <a:pathLst>
              <a:path h="2579949" w="3707914">
                <a:moveTo>
                  <a:pt x="0" y="0"/>
                </a:moveTo>
                <a:lnTo>
                  <a:pt x="3707914" y="0"/>
                </a:lnTo>
                <a:lnTo>
                  <a:pt x="3707914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883110" y="2995365"/>
            <a:ext cx="4582938" cy="3443576"/>
          </a:xfrm>
          <a:custGeom>
            <a:avLst/>
            <a:gdLst/>
            <a:ahLst/>
            <a:cxnLst/>
            <a:rect r="r" b="b" t="t" l="l"/>
            <a:pathLst>
              <a:path h="3443576" w="4582938">
                <a:moveTo>
                  <a:pt x="0" y="0"/>
                </a:moveTo>
                <a:lnTo>
                  <a:pt x="4582938" y="0"/>
                </a:lnTo>
                <a:lnTo>
                  <a:pt x="4582938" y="3443575"/>
                </a:lnTo>
                <a:lnTo>
                  <a:pt x="0" y="34435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580086" y="4066699"/>
            <a:ext cx="3707914" cy="3006296"/>
          </a:xfrm>
          <a:custGeom>
            <a:avLst/>
            <a:gdLst/>
            <a:ahLst/>
            <a:cxnLst/>
            <a:rect r="r" b="b" t="t" l="l"/>
            <a:pathLst>
              <a:path h="3006296" w="3707914">
                <a:moveTo>
                  <a:pt x="0" y="0"/>
                </a:moveTo>
                <a:lnTo>
                  <a:pt x="3707914" y="0"/>
                </a:lnTo>
                <a:lnTo>
                  <a:pt x="3707914" y="3006297"/>
                </a:lnTo>
                <a:lnTo>
                  <a:pt x="0" y="3006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664354" y="6209369"/>
            <a:ext cx="3051646" cy="2579949"/>
          </a:xfrm>
          <a:custGeom>
            <a:avLst/>
            <a:gdLst/>
            <a:ahLst/>
            <a:cxnLst/>
            <a:rect r="r" b="b" t="t" l="l"/>
            <a:pathLst>
              <a:path h="2579949" w="3051646">
                <a:moveTo>
                  <a:pt x="0" y="0"/>
                </a:moveTo>
                <a:lnTo>
                  <a:pt x="3051646" y="0"/>
                </a:lnTo>
                <a:lnTo>
                  <a:pt x="3051646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965952" y="6428009"/>
            <a:ext cx="4801694" cy="3432644"/>
          </a:xfrm>
          <a:custGeom>
            <a:avLst/>
            <a:gdLst/>
            <a:ahLst/>
            <a:cxnLst/>
            <a:rect r="r" b="b" t="t" l="l"/>
            <a:pathLst>
              <a:path h="3432644" w="4801694">
                <a:moveTo>
                  <a:pt x="0" y="0"/>
                </a:moveTo>
                <a:lnTo>
                  <a:pt x="4801694" y="0"/>
                </a:lnTo>
                <a:lnTo>
                  <a:pt x="4801694" y="3432643"/>
                </a:lnTo>
                <a:lnTo>
                  <a:pt x="0" y="343264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017598" y="6635716"/>
            <a:ext cx="3270402" cy="3017228"/>
          </a:xfrm>
          <a:custGeom>
            <a:avLst/>
            <a:gdLst/>
            <a:ahLst/>
            <a:cxnLst/>
            <a:rect r="r" b="b" t="t" l="l"/>
            <a:pathLst>
              <a:path h="3017228" w="3270402">
                <a:moveTo>
                  <a:pt x="0" y="0"/>
                </a:moveTo>
                <a:lnTo>
                  <a:pt x="3270402" y="0"/>
                </a:lnTo>
                <a:lnTo>
                  <a:pt x="3270402" y="3017229"/>
                </a:lnTo>
                <a:lnTo>
                  <a:pt x="0" y="301722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85875" y="4156165"/>
            <a:ext cx="3482578" cy="42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Muncul 23 kali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875" y="5345971"/>
            <a:ext cx="3482578" cy="42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Muncul 23 kali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85875" y="7800888"/>
            <a:ext cx="3482578" cy="421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387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Muncul 11 kali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0"/>
            <a:ext cx="8279914" cy="10287000"/>
          </a:xfrm>
          <a:custGeom>
            <a:avLst/>
            <a:gdLst/>
            <a:ahLst/>
            <a:cxnLst/>
            <a:rect r="r" b="b" t="t" l="l"/>
            <a:pathLst>
              <a:path h="10287000" w="8279914">
                <a:moveTo>
                  <a:pt x="0" y="0"/>
                </a:moveTo>
                <a:lnTo>
                  <a:pt x="8279914" y="0"/>
                </a:lnTo>
                <a:lnTo>
                  <a:pt x="827991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20622" y="2776725"/>
            <a:ext cx="5884536" cy="3869923"/>
          </a:xfrm>
          <a:custGeom>
            <a:avLst/>
            <a:gdLst/>
            <a:ahLst/>
            <a:cxnLst/>
            <a:rect r="r" b="b" t="t" l="l"/>
            <a:pathLst>
              <a:path h="3869923" w="5884536">
                <a:moveTo>
                  <a:pt x="0" y="0"/>
                </a:moveTo>
                <a:lnTo>
                  <a:pt x="5884536" y="0"/>
                </a:lnTo>
                <a:lnTo>
                  <a:pt x="588453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8590" y="1091714"/>
            <a:ext cx="2792606" cy="42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1"/>
              </a:lnSpc>
            </a:pPr>
            <a:r>
              <a:rPr lang="en-US" sz="3379" b="true">
                <a:solidFill>
                  <a:srgbClr val="F7F7F7"/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TANTANGAN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4012" y="1713167"/>
            <a:ext cx="11250400" cy="2115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24"/>
              </a:lnSpc>
            </a:pPr>
            <a:r>
              <a:rPr lang="en-US" sz="8738" b="true">
                <a:solidFill>
                  <a:srgbClr val="F7F7F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LOGISTIK &amp; </a:t>
            </a:r>
            <a:r>
              <a:rPr lang="en-US" sz="8738" b="true">
                <a:solidFill>
                  <a:srgbClr val="D19540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KONEKTIVITAS</a:t>
            </a:r>
            <a:r>
              <a:rPr lang="en-US" sz="8738" b="true">
                <a:solidFill>
                  <a:srgbClr val="F7F7F7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KEPULAUAN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3848060"/>
            <a:ext cx="5457962" cy="229572"/>
          </a:xfrm>
          <a:custGeom>
            <a:avLst/>
            <a:gdLst/>
            <a:ahLst/>
            <a:cxnLst/>
            <a:rect r="r" b="b" t="t" l="l"/>
            <a:pathLst>
              <a:path h="229572" w="5457962">
                <a:moveTo>
                  <a:pt x="0" y="0"/>
                </a:moveTo>
                <a:lnTo>
                  <a:pt x="5457962" y="0"/>
                </a:lnTo>
                <a:lnTo>
                  <a:pt x="5457962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45330" y="4493047"/>
            <a:ext cx="448450" cy="4088563"/>
          </a:xfrm>
          <a:custGeom>
            <a:avLst/>
            <a:gdLst/>
            <a:ahLst/>
            <a:cxnLst/>
            <a:rect r="r" b="b" t="t" l="l"/>
            <a:pathLst>
              <a:path h="4088563" w="448450">
                <a:moveTo>
                  <a:pt x="0" y="0"/>
                </a:moveTo>
                <a:lnTo>
                  <a:pt x="448450" y="0"/>
                </a:lnTo>
                <a:lnTo>
                  <a:pt x="448450" y="4088563"/>
                </a:lnTo>
                <a:lnTo>
                  <a:pt x="0" y="408856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90165" y="4352730"/>
            <a:ext cx="6892134" cy="80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Ketergantungan </a:t>
            </a:r>
            <a:r>
              <a:rPr lang="en-US" sz="2399" b="true">
                <a:solidFill>
                  <a:srgbClr val="0DAAB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pasokan bahan pangan</a:t>
            </a:r>
            <a:r>
              <a:rPr lang="en-US" sz="2399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 pokok dari daratan utama Sulawesi Selatan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9860" y="5581625"/>
            <a:ext cx="6922637" cy="79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Kerentanan </a:t>
            </a:r>
            <a:r>
              <a:rPr lang="en-US" sz="2355" b="true">
                <a:solidFill>
                  <a:srgbClr val="0DAAB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cuaca ekstrem</a:t>
            </a:r>
            <a:r>
              <a:rPr lang="en-US" sz="2355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 dan</a:t>
            </a:r>
          </a:p>
          <a:p>
            <a:pPr algn="l">
              <a:lnSpc>
                <a:spcPts val="3297"/>
              </a:lnSpc>
            </a:pPr>
            <a:r>
              <a:rPr lang="en-US" sz="2355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gelombang laut penyeberangan Bira - Pamatata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08017" y="6831675"/>
            <a:ext cx="5106911" cy="799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7"/>
              </a:lnSpc>
            </a:pPr>
            <a:r>
              <a:rPr lang="en-US" sz="2355" b="true">
                <a:solidFill>
                  <a:srgbClr val="0DAAB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Biaya logistik</a:t>
            </a:r>
            <a:r>
              <a:rPr lang="en-US" sz="2355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 angkutan laut yang</a:t>
            </a:r>
          </a:p>
          <a:p>
            <a:pPr algn="l">
              <a:lnSpc>
                <a:spcPts val="3297"/>
              </a:lnSpc>
            </a:pPr>
            <a:r>
              <a:rPr lang="en-US" sz="2355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menambah margin disparitas harga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07488" y="8027576"/>
            <a:ext cx="5159835" cy="1218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Keterbatasan fasilitas penyimpanan </a:t>
            </a:r>
            <a:r>
              <a:rPr lang="en-US" sz="2399" b="true">
                <a:solidFill>
                  <a:srgbClr val="0DAAB5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berpendingin (Cold Storage)</a:t>
            </a:r>
            <a:r>
              <a:rPr lang="en-US" sz="2399">
                <a:solidFill>
                  <a:srgbClr val="F7F7F7"/>
                </a:solidFill>
                <a:latin typeface="Open Sauce"/>
                <a:ea typeface="Open Sauce"/>
                <a:cs typeface="Open Sauce"/>
                <a:sym typeface="Open Sauce"/>
              </a:rPr>
              <a:t> di pulau-pulau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436086" y="8133399"/>
            <a:ext cx="12851914" cy="2153601"/>
          </a:xfrm>
          <a:custGeom>
            <a:avLst/>
            <a:gdLst/>
            <a:ahLst/>
            <a:cxnLst/>
            <a:rect r="r" b="b" t="t" l="l"/>
            <a:pathLst>
              <a:path h="2153601" w="12851914">
                <a:moveTo>
                  <a:pt x="0" y="0"/>
                </a:moveTo>
                <a:lnTo>
                  <a:pt x="12851914" y="0"/>
                </a:lnTo>
                <a:lnTo>
                  <a:pt x="1285191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08086" y="426348"/>
            <a:ext cx="8279914" cy="9434305"/>
          </a:xfrm>
          <a:custGeom>
            <a:avLst/>
            <a:gdLst/>
            <a:ahLst/>
            <a:cxnLst/>
            <a:rect r="r" b="b" t="t" l="l"/>
            <a:pathLst>
              <a:path h="9434305" w="8279914">
                <a:moveTo>
                  <a:pt x="0" y="0"/>
                </a:moveTo>
                <a:lnTo>
                  <a:pt x="8279914" y="0"/>
                </a:lnTo>
                <a:lnTo>
                  <a:pt x="8279914" y="9434304"/>
                </a:lnTo>
                <a:lnTo>
                  <a:pt x="0" y="94343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6842" y="634055"/>
            <a:ext cx="8061158" cy="9018889"/>
          </a:xfrm>
          <a:custGeom>
            <a:avLst/>
            <a:gdLst/>
            <a:ahLst/>
            <a:cxnLst/>
            <a:rect r="r" b="b" t="t" l="l"/>
            <a:pathLst>
              <a:path h="9018889" w="8061158">
                <a:moveTo>
                  <a:pt x="0" y="0"/>
                </a:moveTo>
                <a:lnTo>
                  <a:pt x="8061158" y="0"/>
                </a:lnTo>
                <a:lnTo>
                  <a:pt x="8061158" y="9018890"/>
                </a:lnTo>
                <a:lnTo>
                  <a:pt x="0" y="90188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98842" y="426348"/>
            <a:ext cx="3489158" cy="437279"/>
          </a:xfrm>
          <a:custGeom>
            <a:avLst/>
            <a:gdLst/>
            <a:ahLst/>
            <a:cxnLst/>
            <a:rect r="r" b="b" t="t" l="l"/>
            <a:pathLst>
              <a:path h="437279" w="3489158">
                <a:moveTo>
                  <a:pt x="0" y="0"/>
                </a:moveTo>
                <a:lnTo>
                  <a:pt x="3489158" y="0"/>
                </a:lnTo>
                <a:lnTo>
                  <a:pt x="348915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278488" y="9423373"/>
            <a:ext cx="5009512" cy="437279"/>
          </a:xfrm>
          <a:custGeom>
            <a:avLst/>
            <a:gdLst/>
            <a:ahLst/>
            <a:cxnLst/>
            <a:rect r="r" b="b" t="t" l="l"/>
            <a:pathLst>
              <a:path h="437279" w="5009512">
                <a:moveTo>
                  <a:pt x="0" y="0"/>
                </a:moveTo>
                <a:lnTo>
                  <a:pt x="5009512" y="0"/>
                </a:lnTo>
                <a:lnTo>
                  <a:pt x="5009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16140" y="814598"/>
            <a:ext cx="5358672" cy="41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sz="3102" spc="62">
                <a:solidFill>
                  <a:srgbClr val="FFFFFF">
                    <a:alpha val="84706"/>
                  </a:srgbClr>
                </a:solidFill>
                <a:latin typeface="Open Sauce"/>
                <a:ea typeface="Open Sauce"/>
                <a:cs typeface="Open Sauce"/>
                <a:sym typeface="Open Sauce"/>
              </a:rPr>
              <a:t>REKOMENDASI KEBIJAKAN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8973" y="1336768"/>
            <a:ext cx="7075308" cy="100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2"/>
              </a:lnSpc>
            </a:pPr>
            <a:r>
              <a:rPr lang="en-US" sz="7692" b="true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TPID SELAYAR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6455" y="2337629"/>
            <a:ext cx="6327206" cy="840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2"/>
              </a:lnSpc>
            </a:pPr>
            <a:r>
              <a:rPr lang="en-US" sz="6352" b="true">
                <a:solidFill>
                  <a:srgbClr val="D9973B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(KERANGKA 4K)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3214004"/>
            <a:ext cx="7634584" cy="218640"/>
          </a:xfrm>
          <a:custGeom>
            <a:avLst/>
            <a:gdLst/>
            <a:ahLst/>
            <a:cxnLst/>
            <a:rect r="r" b="b" t="t" l="l"/>
            <a:pathLst>
              <a:path h="218640" w="7634584">
                <a:moveTo>
                  <a:pt x="0" y="0"/>
                </a:moveTo>
                <a:lnTo>
                  <a:pt x="7634584" y="0"/>
                </a:lnTo>
                <a:lnTo>
                  <a:pt x="7634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5330" y="3421712"/>
            <a:ext cx="10467474" cy="1727254"/>
          </a:xfrm>
          <a:custGeom>
            <a:avLst/>
            <a:gdLst/>
            <a:ahLst/>
            <a:cxnLst/>
            <a:rect r="r" b="b" t="t" l="l"/>
            <a:pathLst>
              <a:path h="1727254" w="10467474">
                <a:moveTo>
                  <a:pt x="0" y="0"/>
                </a:moveTo>
                <a:lnTo>
                  <a:pt x="10467474" y="0"/>
                </a:lnTo>
                <a:lnTo>
                  <a:pt x="1046747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42586" y="3885425"/>
            <a:ext cx="70823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</a:pPr>
            <a:r>
              <a:rPr lang="en-US" b="true" sz="8519">
                <a:solidFill>
                  <a:srgbClr val="D9973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603196" y="3640352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953240" y="3790844"/>
            <a:ext cx="4713492" cy="33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2654" spc="53">
                <a:solidFill>
                  <a:srgbClr val="FFFFFF">
                    <a:alpha val="84706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KETERJANGKAUAN HARGA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00375" y="4147327"/>
            <a:ext cx="6241852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Gelar Gerakan Pangan Murah (GPM) berkala dan operasi pasar menjelang HBKN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4919394"/>
            <a:ext cx="10029962" cy="1727254"/>
          </a:xfrm>
          <a:custGeom>
            <a:avLst/>
            <a:gdLst/>
            <a:ahLst/>
            <a:cxnLst/>
            <a:rect r="r" b="b" t="t" l="l"/>
            <a:pathLst>
              <a:path h="1727254" w="10029962">
                <a:moveTo>
                  <a:pt x="0" y="0"/>
                </a:moveTo>
                <a:lnTo>
                  <a:pt x="10029962" y="0"/>
                </a:lnTo>
                <a:lnTo>
                  <a:pt x="1002996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42586" y="5466813"/>
            <a:ext cx="70823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</a:pPr>
            <a:r>
              <a:rPr lang="en-US" b="true" sz="8519">
                <a:solidFill>
                  <a:srgbClr val="D9973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603196" y="5138034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955174" y="5372232"/>
            <a:ext cx="4520138" cy="33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2654" spc="53">
                <a:solidFill>
                  <a:srgbClr val="FFFFFF">
                    <a:alpha val="84706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KETERSEDIAAN PASOKAN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000375" y="5728715"/>
            <a:ext cx="6241852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Perkuat Kerjasama Antar Daerah (KAD)</a:t>
            </a:r>
          </a:p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dengan sentra produksi di Sulsel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645330" y="6635716"/>
            <a:ext cx="9592450" cy="1727254"/>
          </a:xfrm>
          <a:custGeom>
            <a:avLst/>
            <a:gdLst/>
            <a:ahLst/>
            <a:cxnLst/>
            <a:rect r="r" b="b" t="t" l="l"/>
            <a:pathLst>
              <a:path h="1727254" w="9592450">
                <a:moveTo>
                  <a:pt x="0" y="0"/>
                </a:moveTo>
                <a:lnTo>
                  <a:pt x="9592450" y="0"/>
                </a:lnTo>
                <a:lnTo>
                  <a:pt x="959245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2586" y="7078323"/>
            <a:ext cx="70823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</a:pPr>
            <a:r>
              <a:rPr lang="en-US" b="true" sz="8519">
                <a:solidFill>
                  <a:srgbClr val="D9973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2603196" y="6854356"/>
            <a:ext cx="229694" cy="1289974"/>
          </a:xfrm>
          <a:custGeom>
            <a:avLst/>
            <a:gdLst/>
            <a:ahLst/>
            <a:cxnLst/>
            <a:rect r="r" b="b" t="t" l="l"/>
            <a:pathLst>
              <a:path h="1289974" w="229694">
                <a:moveTo>
                  <a:pt x="0" y="0"/>
                </a:moveTo>
                <a:lnTo>
                  <a:pt x="229694" y="0"/>
                </a:lnTo>
                <a:lnTo>
                  <a:pt x="229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955412" y="6983742"/>
            <a:ext cx="4496306" cy="33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2654" spc="53">
                <a:solidFill>
                  <a:srgbClr val="FFFFFF">
                    <a:alpha val="84706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KELANCARAN DISTRIBUSI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000375" y="7325165"/>
            <a:ext cx="6241852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Fasilitas subsidi ongkos angkut laut</a:t>
            </a:r>
          </a:p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dan jaminan prioritas logistik sembako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645330" y="8133399"/>
            <a:ext cx="9373694" cy="1727254"/>
          </a:xfrm>
          <a:custGeom>
            <a:avLst/>
            <a:gdLst/>
            <a:ahLst/>
            <a:cxnLst/>
            <a:rect r="r" b="b" t="t" l="l"/>
            <a:pathLst>
              <a:path h="1727254" w="9373694">
                <a:moveTo>
                  <a:pt x="0" y="0"/>
                </a:moveTo>
                <a:lnTo>
                  <a:pt x="9373694" y="0"/>
                </a:lnTo>
                <a:lnTo>
                  <a:pt x="937369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42586" y="8659711"/>
            <a:ext cx="708238" cy="1125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19"/>
              </a:lnSpc>
            </a:pPr>
            <a:r>
              <a:rPr lang="en-US" b="true" sz="8519">
                <a:solidFill>
                  <a:srgbClr val="D9973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2603196" y="8352038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2962511" y="8565130"/>
            <a:ext cx="3786383" cy="331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4"/>
              </a:lnSpc>
            </a:pPr>
            <a:r>
              <a:rPr lang="en-US" b="true" sz="2654" spc="53">
                <a:solidFill>
                  <a:srgbClr val="FFFFFF">
                    <a:alpha val="84706"/>
                  </a:srgbClr>
                </a:solidFill>
                <a:latin typeface="Open Sauce Semi-Bold"/>
                <a:ea typeface="Open Sauce Semi-Bold"/>
                <a:cs typeface="Open Sauce Semi-Bold"/>
                <a:sym typeface="Open Sauce Semi-Bold"/>
              </a:rPr>
              <a:t>KOMUNIKASI EFEKTIF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00375" y="8906553"/>
            <a:ext cx="6241852" cy="748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7"/>
              </a:lnSpc>
            </a:pPr>
            <a:r>
              <a:rPr lang="en-US" sz="2321" spc="22" b="true">
                <a:solidFill>
                  <a:srgbClr val="FFFFFF">
                    <a:alpha val="84706"/>
                  </a:srgbClr>
                </a:solidFill>
                <a:latin typeface="Barlow Condensed Medium"/>
                <a:ea typeface="Barlow Condensed Medium"/>
                <a:cs typeface="Barlow Condensed Medium"/>
                <a:sym typeface="Barlow Condensed Medium"/>
              </a:rPr>
              <a:t>Publikasi rutin data harga harian untuk mencegah kepanikan belanja masyarakat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DAHXfMvRpZ4</dc:identifier>
  <dcterms:modified xsi:type="dcterms:W3CDTF">2011-08-01T06:04:30Z</dcterms:modified>
  <cp:revision>1</cp:revision>
  <dc:title>Paparan IPH Selayar 2026</dc:title>
</cp:coreProperties>
</file>