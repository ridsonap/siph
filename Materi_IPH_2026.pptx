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hyperlink" Target="https://ridsonap.github.io/siph/?kab=7301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868680" cy="8686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841248"/>
            <a:ext cx="1463040" cy="4846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057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D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LEVEL MEETING TPID &amp; CAPACITY BUILDING NERACA PANGAN DAERAH 2026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2514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Perkembangan Harga Pangan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Kabupaten Kepulauan Selayar 2026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Indeks Perkembangan Harga (IPH) mingguan, Januari – Oktober 2026 (35 rilis)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Badan Pusat Statistik Kabupaten Kepulauan Selayar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relatif stabil sepanjang 2026, tetapi sempat melonjak di April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84048"/>
            <a:ext cx="1280160" cy="4297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BPS, Indeks Perkembangan Harga (IPH) mingguan Kab. Kepulauan Selayar 2026, diolah.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1099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57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+0,05%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Rata-rata IPH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minggu, dari 35 minggu (Jan–Okt)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37560" y="182880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2057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: 22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naik : turun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sering turun daripada naik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26480" y="182880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2057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+3,29%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Kenaikan tertinggi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M2 (pasca-Lebaran)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915400" y="182880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0" y="2057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−2,02%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Penurunan terdalam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0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M5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6177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utama: 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gejolak 2026 dipicu dua momen — daging setelah Lebaran (April) dan cabai rawit (September). Kenaikan sekitar Lebaran juga terjadi pada 2023 dan 2024, sehingga dapat diantisipasi lebih awal.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 BULANAN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tertinggi; harga turun 16 minggu berturut-turut sesudahnya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84048"/>
            <a:ext cx="1280160" cy="4297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BPS, Indeks Perkembangan Harga (IPH) mingguan Kab. Kepulauan Selayar 2026, diolah.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1099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22960" y="3661015"/>
            <a:ext cx="10607040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35101" y="3661015"/>
            <a:ext cx="636422" cy="11020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826081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−0,22%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873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095805" y="3661015"/>
            <a:ext cx="636422" cy="721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883664" y="4437199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−1,44%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883664" y="4873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156509" y="3245255"/>
            <a:ext cx="636422" cy="415761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44368" y="2861207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+0,83%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944368" y="4873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17213" y="2028028"/>
            <a:ext cx="636422" cy="1632987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05072" y="1643980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+3,26%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005072" y="4873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277917" y="3661015"/>
            <a:ext cx="636422" cy="25045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65776" y="3966338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−0,50%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65776" y="4873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338621" y="3661015"/>
            <a:ext cx="636422" cy="295541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26480" y="4011420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−0,59%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126480" y="4873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399325" y="3661015"/>
            <a:ext cx="636422" cy="87660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87184" y="4592483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−1,75%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187184" y="4873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460029" y="3661015"/>
            <a:ext cx="636422" cy="255467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47888" y="3971347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−0,51%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247888" y="4873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520733" y="3135053"/>
            <a:ext cx="636422" cy="52596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308592" y="2751005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+1,05%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308592" y="4873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0581437" y="3240246"/>
            <a:ext cx="636422" cy="42077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369296" y="2856198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+0,84%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0369296" y="487375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82296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Rata-rata IPH mingguan per bulan (%)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48640" y="5321808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DEDE4"/>
          </a:solidFill>
          <a:ln w="12700">
            <a:solidFill>
              <a:srgbClr val="FDEDE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31520" y="5413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April: +3,21% s.d. +3,29%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731520" y="5760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daging tetap tinggi setelah Idul Fitri (21 Maret 2026).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4297680" y="5321808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E5F4EA"/>
          </a:solidFill>
          <a:ln w="12700">
            <a:solidFill>
              <a:srgbClr val="E5F4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80560" y="5413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Mei–Agustus: 16 minggu turun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4480560" y="5760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Titik terendah −2,02% pada Jul M5.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8046720" y="5321808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DEDE4"/>
          </a:solidFill>
          <a:ln w="12700">
            <a:solidFill>
              <a:srgbClr val="FDEDE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229600" y="5413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September: naik kembali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8229600" y="5760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Didorong cabai rawit; Okt M1 masih +0,84%.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KOMODITAS PENDORONG NAIK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pemicu kenaikan: daging setelah Lebaran, cabai rawit di September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84048"/>
            <a:ext cx="1280160" cy="4297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BPS, Indeks Perkembangan Harga (IPH) mingguan Kab. Kepulauan Selayar 2026, diolah.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1099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Andil tertinggi terhadap kenaikan IPH, per komoditas (%)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2057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Daging Sapi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43200" y="2280148"/>
            <a:ext cx="3017520" cy="328087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70448" y="2194560"/>
            <a:ext cx="1097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+2,17%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907792"/>
            <a:ext cx="2057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Cabai Rawit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43200" y="2993380"/>
            <a:ext cx="1569543" cy="328087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22471" y="2907792"/>
            <a:ext cx="1097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+1,13%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621024"/>
            <a:ext cx="2057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Daging Ayam Ras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43200" y="3706612"/>
            <a:ext cx="1273398" cy="328087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26326" y="3621024"/>
            <a:ext cx="1097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+0,92%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334256"/>
            <a:ext cx="2057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Bawang Merah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743200" y="4419844"/>
            <a:ext cx="503198" cy="328087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56126" y="4334256"/>
            <a:ext cx="1097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+0,36%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047488"/>
            <a:ext cx="2057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743200" y="5133076"/>
            <a:ext cx="472528" cy="328087"/>
          </a:xfrm>
          <a:prstGeom prst="rect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25456" y="5047488"/>
            <a:ext cx="1097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+0,34%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406640" y="2148840"/>
            <a:ext cx="4251960" cy="1645920"/>
          </a:xfrm>
          <a:prstGeom prst="roundRect">
            <a:avLst>
              <a:gd name="adj" fmla="val 6667"/>
            </a:avLst>
          </a:prstGeom>
          <a:solidFill>
            <a:srgbClr val="FDEDE4"/>
          </a:solidFill>
          <a:ln w="12700">
            <a:solidFill>
              <a:srgbClr val="FDEDE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35240" y="2313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Daging sapi &amp; daging ayam ras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635240" y="27157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Andil +2,17% dan +0,92%, bertahan selama 5 minggu April — harga belum turun setelah Lebaran.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406640" y="3977640"/>
            <a:ext cx="4251960" cy="1645920"/>
          </a:xfrm>
          <a:prstGeom prst="roundRect">
            <a:avLst>
              <a:gd name="adj" fmla="val 6667"/>
            </a:avLst>
          </a:prstGeom>
          <a:solidFill>
            <a:srgbClr val="FDEDE4"/>
          </a:solidFill>
          <a:ln w="12700">
            <a:solidFill>
              <a:srgbClr val="FDEDE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35240" y="4142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Cabai rawit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635240" y="45445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Andil naik sepanjang September dari +0,85% ke +1,13%, dan menjadi pendorong utama kenaikan kembali.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KOMODITAS PALING BERGEJOLAK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Cabai rawit paling sering bergejolak: 16 dari 35 minggu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84048"/>
            <a:ext cx="1280160" cy="4297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BPS, Indeks Perkembangan Harga (IPH) mingguan Kab. Kepulauan Selayar 2026, diolah.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1099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Berapa kali tercatat sebagai komoditas dengan fluktuasi harga tertinggi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2057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Cabai Rawit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43200" y="2280148"/>
            <a:ext cx="3017520" cy="328087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70448" y="2194560"/>
            <a:ext cx="1097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16x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907792"/>
            <a:ext cx="2057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43200" y="2993380"/>
            <a:ext cx="942975" cy="328087"/>
          </a:xfrm>
          <a:prstGeom prst="rect">
            <a:avLst/>
          </a:prstGeom>
          <a:solidFill>
            <a:srgbClr val="7FA9B5"/>
          </a:solidFill>
          <a:ln w="12700">
            <a:solidFill>
              <a:srgbClr val="7FA9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5903" y="2907792"/>
            <a:ext cx="1097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621024"/>
            <a:ext cx="2057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Cabai Merah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43200" y="3706612"/>
            <a:ext cx="942975" cy="328087"/>
          </a:xfrm>
          <a:prstGeom prst="rect">
            <a:avLst/>
          </a:prstGeom>
          <a:solidFill>
            <a:srgbClr val="7FA9B5"/>
          </a:solidFill>
          <a:ln w="12700">
            <a:solidFill>
              <a:srgbClr val="7FA9B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95903" y="3621024"/>
            <a:ext cx="1097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334256"/>
            <a:ext cx="2057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Telur Ayam Ras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743200" y="4419844"/>
            <a:ext cx="942975" cy="328087"/>
          </a:xfrm>
          <a:prstGeom prst="rect">
            <a:avLst/>
          </a:prstGeom>
          <a:solidFill>
            <a:srgbClr val="7FA9B5"/>
          </a:solidFill>
          <a:ln w="12700">
            <a:solidFill>
              <a:srgbClr val="7FA9B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795903" y="4334256"/>
            <a:ext cx="1097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A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047488"/>
            <a:ext cx="2057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Lainnya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743200" y="5133076"/>
            <a:ext cx="377190" cy="328087"/>
          </a:xfrm>
          <a:prstGeom prst="rect">
            <a:avLst/>
          </a:prstGeom>
          <a:solidFill>
            <a:srgbClr val="B8C2CC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30118" y="5047488"/>
            <a:ext cx="1097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406640" y="2148840"/>
            <a:ext cx="4251960" cy="3474720"/>
          </a:xfrm>
          <a:prstGeom prst="roundRect">
            <a:avLst>
              <a:gd name="adj" fmla="val 315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3524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perlu diperhatikan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635240" y="27889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Cabai rawit bergejolak hampir setengah dari seluruh minggu (46%).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Beras bergejolak 5 kali — selalu di minggu pertama bulan.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Telur ayam ras bergejolak 5 kali, sebagian besar sekitar Lebaran dan Juni.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langkah prioritas TPID, sesuai pola harga 2026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84048"/>
            <a:ext cx="1280160" cy="4297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BPS, Indeks Perkembangan Harga (IPH) mingguan Kab. Kepulauan Selayar 2026, diolah.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1099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121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KETERJANGKAUAN &amp; PASOKAN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880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Daging sapi &amp; ayam ras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3832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Operasi pasar / Gerakan Pangan Murah dari H-14 hingga ±6 minggu setelah Lebaran.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2960" y="5120640"/>
            <a:ext cx="3017520" cy="0"/>
          </a:xfrm>
          <a:prstGeom prst="line">
            <a:avLst/>
          </a:prstGeom>
          <a:noFill/>
          <a:ln w="12700">
            <a:solidFill>
              <a:srgbClr val="D7DDE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IPH April +3,21% s.d. +3,29% selama 5 minggu.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7680" y="178308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5349240" y="2121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KETERSEDIAAN &amp; DISTRIBUSI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2880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Cabai rawit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33832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Kerja sama antardaerah (KAD) dengan sentra cabai di daratan Sulsel, mulai Agustus sebelum harga naik.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572000" y="5120640"/>
            <a:ext cx="3017520" cy="0"/>
          </a:xfrm>
          <a:prstGeom prst="line">
            <a:avLst/>
          </a:prstGeom>
          <a:noFill/>
          <a:ln w="12700">
            <a:solidFill>
              <a:srgbClr val="D7DDE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bergejolak 16 dari 35 minggu; andil hingga +1,13%.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046720" y="178308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21040" y="2011680"/>
            <a:ext cx="640080" cy="64008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210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9098280" y="2121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KOMUNIKASI &amp; PENGAWASAN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2880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Beras</a:t>
            </a:r>
            <a:endParaRPr lang="en-US" sz="2100" dirty="0"/>
          </a:p>
        </p:txBody>
      </p:sp>
      <p:sp>
        <p:nvSpPr>
          <p:cNvPr id="28" name="Text 25"/>
          <p:cNvSpPr txBox="1"/>
          <p:nvPr/>
        </p:nvSpPr>
        <p:spPr>
          <a:xfrm>
            <a:off x="8321040" y="338328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stok SPHP/BULOG dan kepatuhan HET di pasar pada minggu pertama setiap bulan.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8321040" y="5120640"/>
            <a:ext cx="3017520" cy="0"/>
          </a:xfrm>
          <a:prstGeom prst="line">
            <a:avLst/>
          </a:prstGeom>
          <a:noFill/>
          <a:ln w="12700">
            <a:solidFill>
              <a:srgbClr val="D7DDE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2104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5 kali bergejolak, semuanya di minggu pertama.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868680" cy="8686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841248"/>
            <a:ext cx="1463040" cy="48463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548640"/>
            <a:ext cx="1097280" cy="10972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4400" dirty="0"/>
          </a:p>
        </p:txBody>
      </p:sp>
      <p:sp>
        <p:nvSpPr>
          <p:cNvPr id="6" name="Text 1"/>
          <p:cNvSpPr txBox="1"/>
          <p:nvPr/>
        </p:nvSpPr>
        <p:spPr>
          <a:xfrm>
            <a:off x="731520" y="3474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Pantau IPH mingguan Selayar di dashboard SIPH Sulsel:</a:t>
            </a:r>
            <a:endParaRPr lang="en-US" sz="2000" dirty="0"/>
          </a:p>
        </p:txBody>
      </p:sp>
      <p:sp>
        <p:nvSpPr>
          <p:cNvPr id="7" name="Text 2">
            <a:hlinkClick r:id="rId4" tooltip=""/>
          </p:cNvPr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7DD3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ridsonap.github.io/siph/?kab=7301</a:t>
            </a:r>
            <a:endParaRPr lang="en-US" sz="24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BPS Kabupaten Kepulauan Selayar  •  #MencatatEkonomiIndonesia — Sensus Ekonomi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Perkembangan Harga Pangan Kab. Kepulauan Selayar 2026</dc:title>
  <dc:subject>PptxGenJS Presentation</dc:subject>
  <dc:creator>BPS Kabupaten Kepulauan Selayar</dc:creator>
  <cp:lastModifiedBy>BPS Kabupaten Kepulauan Selayar</cp:lastModifiedBy>
  <cp:revision>1</cp:revision>
  <dcterms:created xsi:type="dcterms:W3CDTF">2026-10-12T22:29:15Z</dcterms:created>
  <dcterms:modified xsi:type="dcterms:W3CDTF">2026-10-12T22:29:15Z</dcterms:modified>
</cp:coreProperties>
</file>